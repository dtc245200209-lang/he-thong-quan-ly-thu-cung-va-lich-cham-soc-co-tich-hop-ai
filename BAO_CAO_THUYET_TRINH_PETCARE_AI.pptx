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4"/>
  </p:notesMasterIdLst>
  <p:handoutMasterIdLst>
    <p:handoutMasterId r:id="rId5"/>
  </p:handoutMasterIdLst>
  <p:sldIdLst>
    <p:sldId id="256" r:id="rId2"/>
    <p:sldId id="257" r:id="rId3"/>
    <p:sldId id="258" r:id="rId11"/>
    <p:sldId id="259" r:id="rId12"/>
    <p:sldId id="260" r:id="rId13"/>
    <p:sldId id="261" r:id="rId14"/>
    <p:sldId id="262" r:id="rId15"/>
    <p:sldId id="263" r:id="rId16"/>
    <p:sldId id="264" r:id="rId17"/>
    <p:sldId id="265" r:id="rId18"/>
    <p:sldId id="266" r:id="rId19"/>
    <p:sldId id="267" r:id="rId20"/>
    <p:sldId id="268" r:id="rId21"/>
    <p:sldId id="269" r:id="rId22"/>
  </p:sldIdLst>
  <p:sldSz cx="9144000" cy="5143500" type="screen16x9"/>
  <p:notesSz cx="6797675" cy="9928225"/>
  <p:defaultTextStyle>
    <a:defPPr>
      <a:defRPr lang="en-US"/>
    </a:defPPr>
    <a:lvl1pPr algn="l" rtl="0" eaLnBrk="0" fontAlgn="base" hangingPunct="0">
      <a:spcBef>
        <a:spcPct val="0"/>
      </a:spcBef>
      <a:spcAft>
        <a:spcPct val="0"/>
      </a:spcAft>
      <a:defRPr sz="1400" b="1" kern="1200">
        <a:solidFill>
          <a:schemeClr val="tx1"/>
        </a:solidFill>
        <a:latin typeface="Arial Rounded MT Bold" pitchFamily="34" charset="0"/>
        <a:ea typeface="+mn-ea"/>
        <a:cs typeface="+mn-cs"/>
      </a:defRPr>
    </a:lvl1pPr>
    <a:lvl2pPr marL="457200" algn="l" rtl="0" eaLnBrk="0" fontAlgn="base" hangingPunct="0">
      <a:spcBef>
        <a:spcPct val="0"/>
      </a:spcBef>
      <a:spcAft>
        <a:spcPct val="0"/>
      </a:spcAft>
      <a:defRPr sz="1400" b="1" kern="1200">
        <a:solidFill>
          <a:schemeClr val="tx1"/>
        </a:solidFill>
        <a:latin typeface="Arial Rounded MT Bold" pitchFamily="34" charset="0"/>
        <a:ea typeface="+mn-ea"/>
        <a:cs typeface="+mn-cs"/>
      </a:defRPr>
    </a:lvl2pPr>
    <a:lvl3pPr marL="914400" algn="l" rtl="0" eaLnBrk="0" fontAlgn="base" hangingPunct="0">
      <a:spcBef>
        <a:spcPct val="0"/>
      </a:spcBef>
      <a:spcAft>
        <a:spcPct val="0"/>
      </a:spcAft>
      <a:defRPr sz="1400" b="1" kern="1200">
        <a:solidFill>
          <a:schemeClr val="tx1"/>
        </a:solidFill>
        <a:latin typeface="Arial Rounded MT Bold" pitchFamily="34" charset="0"/>
        <a:ea typeface="+mn-ea"/>
        <a:cs typeface="+mn-cs"/>
      </a:defRPr>
    </a:lvl3pPr>
    <a:lvl4pPr marL="1371600" algn="l" rtl="0" eaLnBrk="0" fontAlgn="base" hangingPunct="0">
      <a:spcBef>
        <a:spcPct val="0"/>
      </a:spcBef>
      <a:spcAft>
        <a:spcPct val="0"/>
      </a:spcAft>
      <a:defRPr sz="1400" b="1" kern="1200">
        <a:solidFill>
          <a:schemeClr val="tx1"/>
        </a:solidFill>
        <a:latin typeface="Arial Rounded MT Bold" pitchFamily="34" charset="0"/>
        <a:ea typeface="+mn-ea"/>
        <a:cs typeface="+mn-cs"/>
      </a:defRPr>
    </a:lvl4pPr>
    <a:lvl5pPr marL="1828800" algn="l" rtl="0" eaLnBrk="0" fontAlgn="base" hangingPunct="0">
      <a:spcBef>
        <a:spcPct val="0"/>
      </a:spcBef>
      <a:spcAft>
        <a:spcPct val="0"/>
      </a:spcAft>
      <a:defRPr sz="1400" b="1" kern="1200">
        <a:solidFill>
          <a:schemeClr val="tx1"/>
        </a:solidFill>
        <a:latin typeface="Arial Rounded MT Bold" pitchFamily="34" charset="0"/>
        <a:ea typeface="+mn-ea"/>
        <a:cs typeface="+mn-cs"/>
      </a:defRPr>
    </a:lvl5pPr>
    <a:lvl6pPr marL="2286000" algn="l" defTabSz="914400" rtl="0" eaLnBrk="1" latinLnBrk="0" hangingPunct="1">
      <a:defRPr sz="1400" b="1" kern="1200">
        <a:solidFill>
          <a:schemeClr val="tx1"/>
        </a:solidFill>
        <a:latin typeface="Arial Rounded MT Bold" pitchFamily="34" charset="0"/>
        <a:ea typeface="+mn-ea"/>
        <a:cs typeface="+mn-cs"/>
      </a:defRPr>
    </a:lvl6pPr>
    <a:lvl7pPr marL="2743200" algn="l" defTabSz="914400" rtl="0" eaLnBrk="1" latinLnBrk="0" hangingPunct="1">
      <a:defRPr sz="1400" b="1" kern="1200">
        <a:solidFill>
          <a:schemeClr val="tx1"/>
        </a:solidFill>
        <a:latin typeface="Arial Rounded MT Bold" pitchFamily="34" charset="0"/>
        <a:ea typeface="+mn-ea"/>
        <a:cs typeface="+mn-cs"/>
      </a:defRPr>
    </a:lvl7pPr>
    <a:lvl8pPr marL="3200400" algn="l" defTabSz="914400" rtl="0" eaLnBrk="1" latinLnBrk="0" hangingPunct="1">
      <a:defRPr sz="1400" b="1" kern="1200">
        <a:solidFill>
          <a:schemeClr val="tx1"/>
        </a:solidFill>
        <a:latin typeface="Arial Rounded MT Bold" pitchFamily="34" charset="0"/>
        <a:ea typeface="+mn-ea"/>
        <a:cs typeface="+mn-cs"/>
      </a:defRPr>
    </a:lvl8pPr>
    <a:lvl9pPr marL="3657600" algn="l" defTabSz="914400" rtl="0" eaLnBrk="1" latinLnBrk="0" hangingPunct="1">
      <a:defRPr sz="1400" b="1" kern="1200">
        <a:solidFill>
          <a:schemeClr val="tx1"/>
        </a:solidFill>
        <a:latin typeface="Arial Rounded MT Bold"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8A8A8A"/>
    <a:srgbClr val="B97000"/>
    <a:srgbClr val="008439"/>
    <a:srgbClr val="B92700"/>
    <a:srgbClr val="66FF33"/>
    <a:srgbClr val="008000"/>
    <a:srgbClr val="FFFFFF"/>
    <a:srgbClr val="CCFF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87651" autoAdjust="0"/>
  </p:normalViewPr>
  <p:slideViewPr>
    <p:cSldViewPr>
      <p:cViewPr varScale="1">
        <p:scale>
          <a:sx n="128" d="100"/>
          <a:sy n="128" d="100"/>
        </p:scale>
        <p:origin x="996" y="90"/>
      </p:cViewPr>
      <p:guideLst>
        <p:guide orient="horz" pos="2160"/>
        <p:guide pos="2880"/>
        <p:guide orient="horz" pos="1620"/>
      </p:guideLst>
    </p:cSldViewPr>
  </p:slideViewPr>
  <p:notesTextViewPr>
    <p:cViewPr>
      <p:scale>
        <a:sx n="100" d="100"/>
        <a:sy n="100" d="100"/>
      </p:scale>
      <p:origin x="0" y="0"/>
    </p:cViewPr>
  </p:notesTextViewPr>
  <p:notesViewPr>
    <p:cSldViewPr>
      <p:cViewPr varScale="1">
        <p:scale>
          <a:sx n="71" d="100"/>
          <a:sy n="71" d="100"/>
        </p:scale>
        <p:origin x="-2238" y="-9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handoutMaster" Target="handoutMasters/handout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6/11/relationships/changesInfo" Target="changesInfos/changesInfo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nh Ha" userId="dad4f241114e7651" providerId="LiveId" clId="{1A078304-D878-4927-BFEB-13DAA3ADEB16}"/>
    <pc:docChg chg="addSld delSld">
      <pc:chgData name="Ninh Ha" userId="dad4f241114e7651" providerId="LiveId" clId="{1A078304-D878-4927-BFEB-13DAA3ADEB16}" dt="2026-01-28T01:19:23.485" v="6" actId="47"/>
      <pc:docMkLst>
        <pc:docMk/>
      </pc:docMkLst>
      <pc:sldChg chg="new">
        <pc:chgData name="Ninh Ha" userId="dad4f241114e7651" providerId="LiveId" clId="{1A078304-D878-4927-BFEB-13DAA3ADEB16}" dt="2026-01-28T01:19:02.048" v="1" actId="680"/>
        <pc:sldMkLst>
          <pc:docMk/>
          <pc:sldMk cId="1849589283" sldId="256"/>
        </pc:sldMkLst>
      </pc:sldChg>
      <pc:sldChg chg="new">
        <pc:chgData name="Ninh Ha" userId="dad4f241114e7651" providerId="LiveId" clId="{1A078304-D878-4927-BFEB-13DAA3ADEB16}" dt="2026-01-28T01:19:13.485" v="2" actId="680"/>
        <pc:sldMkLst>
          <pc:docMk/>
          <pc:sldMk cId="3090518707" sldId="257"/>
        </pc:sldMkLst>
      </pc:sldChg>
      <pc:sldChg chg="new del">
        <pc:chgData name="Ninh Ha" userId="dad4f241114e7651" providerId="LiveId" clId="{1A078304-D878-4927-BFEB-13DAA3ADEB16}" dt="2026-01-28T01:19:23.485" v="6" actId="47"/>
        <pc:sldMkLst>
          <pc:docMk/>
          <pc:sldMk cId="4009970504" sldId="258"/>
        </pc:sldMkLst>
      </pc:sldChg>
      <pc:sldChg chg="new del">
        <pc:chgData name="Ninh Ha" userId="dad4f241114e7651" providerId="LiveId" clId="{1A078304-D878-4927-BFEB-13DAA3ADEB16}" dt="2026-01-28T01:19:23.485" v="6" actId="47"/>
        <pc:sldMkLst>
          <pc:docMk/>
          <pc:sldMk cId="2667065242" sldId="259"/>
        </pc:sldMkLst>
      </pc:sldChg>
      <pc:sldChg chg="new del">
        <pc:chgData name="Ninh Ha" userId="dad4f241114e7651" providerId="LiveId" clId="{1A078304-D878-4927-BFEB-13DAA3ADEB16}" dt="2026-01-28T01:19:23.485" v="6" actId="47"/>
        <pc:sldMkLst>
          <pc:docMk/>
          <pc:sldMk cId="2880964486" sldId="260"/>
        </pc:sldMkLst>
      </pc:sldChg>
      <pc:sldChg chg="del">
        <pc:chgData name="Ninh Ha" userId="dad4f241114e7651" providerId="LiveId" clId="{1A078304-D878-4927-BFEB-13DAA3ADEB16}" dt="2026-01-28T01:19:00.314" v="0" actId="47"/>
        <pc:sldMkLst>
          <pc:docMk/>
          <pc:sldMk cId="0" sldId="290"/>
        </pc:sldMkLst>
      </pc:sldChg>
      <pc:sldChg chg="del">
        <pc:chgData name="Ninh Ha" userId="dad4f241114e7651" providerId="LiveId" clId="{1A078304-D878-4927-BFEB-13DAA3ADEB16}" dt="2026-01-28T01:19:00.314" v="0" actId="47"/>
        <pc:sldMkLst>
          <pc:docMk/>
          <pc:sldMk cId="3761276656" sldId="291"/>
        </pc:sldMkLst>
      </pc:sldChg>
      <pc:sldChg chg="del">
        <pc:chgData name="Ninh Ha" userId="dad4f241114e7651" providerId="LiveId" clId="{1A078304-D878-4927-BFEB-13DAA3ADEB16}" dt="2026-01-28T01:19:00.314" v="0" actId="47"/>
        <pc:sldMkLst>
          <pc:docMk/>
          <pc:sldMk cId="2648601283" sldId="292"/>
        </pc:sldMkLst>
      </pc:sldChg>
      <pc:sldChg chg="del">
        <pc:chgData name="Ninh Ha" userId="dad4f241114e7651" providerId="LiveId" clId="{1A078304-D878-4927-BFEB-13DAA3ADEB16}" dt="2026-01-28T01:19:00.314" v="0" actId="47"/>
        <pc:sldMkLst>
          <pc:docMk/>
          <pc:sldMk cId="4245689439" sldId="293"/>
        </pc:sldMkLst>
      </pc:sldChg>
      <pc:sldChg chg="del">
        <pc:chgData name="Ninh Ha" userId="dad4f241114e7651" providerId="LiveId" clId="{1A078304-D878-4927-BFEB-13DAA3ADEB16}" dt="2026-01-28T01:19:00.314" v="0" actId="47"/>
        <pc:sldMkLst>
          <pc:docMk/>
          <pc:sldMk cId="2819364464" sldId="294"/>
        </pc:sldMkLst>
      </pc:sldChg>
      <pc:sldChg chg="del">
        <pc:chgData name="Ninh Ha" userId="dad4f241114e7651" providerId="LiveId" clId="{1A078304-D878-4927-BFEB-13DAA3ADEB16}" dt="2026-01-28T01:19:00.314" v="0" actId="47"/>
        <pc:sldMkLst>
          <pc:docMk/>
          <pc:sldMk cId="2097295069" sldId="307"/>
        </pc:sldMkLst>
      </pc:sldChg>
      <pc:sldChg chg="del">
        <pc:chgData name="Ninh Ha" userId="dad4f241114e7651" providerId="LiveId" clId="{1A078304-D878-4927-BFEB-13DAA3ADEB16}" dt="2026-01-28T01:19:00.314" v="0" actId="47"/>
        <pc:sldMkLst>
          <pc:docMk/>
          <pc:sldMk cId="0" sldId="309"/>
        </pc:sldMkLst>
      </pc:sldChg>
      <pc:sldChg chg="del">
        <pc:chgData name="Ninh Ha" userId="dad4f241114e7651" providerId="LiveId" clId="{1A078304-D878-4927-BFEB-13DAA3ADEB16}" dt="2026-01-28T01:19:00.314" v="0" actId="47"/>
        <pc:sldMkLst>
          <pc:docMk/>
          <pc:sldMk cId="4176954898" sldId="310"/>
        </pc:sldMkLst>
      </pc:sldChg>
      <pc:sldChg chg="del">
        <pc:chgData name="Ninh Ha" userId="dad4f241114e7651" providerId="LiveId" clId="{1A078304-D878-4927-BFEB-13DAA3ADEB16}" dt="2026-01-28T01:19:00.314" v="0" actId="47"/>
        <pc:sldMkLst>
          <pc:docMk/>
          <pc:sldMk cId="1439018987" sldId="311"/>
        </pc:sldMkLst>
      </pc:sldChg>
      <pc:sldChg chg="del">
        <pc:chgData name="Ninh Ha" userId="dad4f241114e7651" providerId="LiveId" clId="{1A078304-D878-4927-BFEB-13DAA3ADEB16}" dt="2026-01-28T01:19:00.314" v="0" actId="47"/>
        <pc:sldMkLst>
          <pc:docMk/>
          <pc:sldMk cId="907185442" sldId="312"/>
        </pc:sldMkLst>
      </pc:sldChg>
      <pc:sldChg chg="del">
        <pc:chgData name="Ninh Ha" userId="dad4f241114e7651" providerId="LiveId" clId="{1A078304-D878-4927-BFEB-13DAA3ADEB16}" dt="2026-01-28T01:19:00.314" v="0" actId="47"/>
        <pc:sldMkLst>
          <pc:docMk/>
          <pc:sldMk cId="491701559" sldId="313"/>
        </pc:sldMkLst>
      </pc:sldChg>
      <pc:sldChg chg="del">
        <pc:chgData name="Ninh Ha" userId="dad4f241114e7651" providerId="LiveId" clId="{1A078304-D878-4927-BFEB-13DAA3ADEB16}" dt="2026-01-28T01:19:00.314" v="0" actId="47"/>
        <pc:sldMkLst>
          <pc:docMk/>
          <pc:sldMk cId="3525104212" sldId="314"/>
        </pc:sldMkLst>
      </pc:sldChg>
      <pc:sldChg chg="del">
        <pc:chgData name="Ninh Ha" userId="dad4f241114e7651" providerId="LiveId" clId="{1A078304-D878-4927-BFEB-13DAA3ADEB16}" dt="2026-01-28T01:19:00.314" v="0" actId="47"/>
        <pc:sldMkLst>
          <pc:docMk/>
          <pc:sldMk cId="184509160" sldId="316"/>
        </pc:sldMkLst>
      </pc:sldChg>
      <pc:sldChg chg="del">
        <pc:chgData name="Ninh Ha" userId="dad4f241114e7651" providerId="LiveId" clId="{1A078304-D878-4927-BFEB-13DAA3ADEB16}" dt="2026-01-28T01:19:00.314" v="0" actId="47"/>
        <pc:sldMkLst>
          <pc:docMk/>
          <pc:sldMk cId="1016060856" sldId="317"/>
        </pc:sldMkLst>
      </pc:sldChg>
      <pc:sldChg chg="del">
        <pc:chgData name="Ninh Ha" userId="dad4f241114e7651" providerId="LiveId" clId="{1A078304-D878-4927-BFEB-13DAA3ADEB16}" dt="2026-01-28T01:19:00.314" v="0" actId="47"/>
        <pc:sldMkLst>
          <pc:docMk/>
          <pc:sldMk cId="2758650107" sldId="318"/>
        </pc:sldMkLst>
      </pc:sldChg>
      <pc:sldChg chg="del">
        <pc:chgData name="Ninh Ha" userId="dad4f241114e7651" providerId="LiveId" clId="{1A078304-D878-4927-BFEB-13DAA3ADEB16}" dt="2026-01-28T01:19:00.314" v="0" actId="47"/>
        <pc:sldMkLst>
          <pc:docMk/>
          <pc:sldMk cId="417996544" sldId="319"/>
        </pc:sldMkLst>
      </pc:sldChg>
      <pc:sldChg chg="del">
        <pc:chgData name="Ninh Ha" userId="dad4f241114e7651" providerId="LiveId" clId="{1A078304-D878-4927-BFEB-13DAA3ADEB16}" dt="2026-01-28T01:19:00.314" v="0" actId="47"/>
        <pc:sldMkLst>
          <pc:docMk/>
          <pc:sldMk cId="1716680550" sldId="320"/>
        </pc:sldMkLst>
      </pc:sldChg>
      <pc:sldChg chg="del">
        <pc:chgData name="Ninh Ha" userId="dad4f241114e7651" providerId="LiveId" clId="{1A078304-D878-4927-BFEB-13DAA3ADEB16}" dt="2026-01-28T01:19:00.314" v="0" actId="47"/>
        <pc:sldMkLst>
          <pc:docMk/>
          <pc:sldMk cId="2674707570" sldId="321"/>
        </pc:sldMkLst>
      </pc:sldChg>
      <pc:sldChg chg="del">
        <pc:chgData name="Ninh Ha" userId="dad4f241114e7651" providerId="LiveId" clId="{1A078304-D878-4927-BFEB-13DAA3ADEB16}" dt="2026-01-28T01:19:00.314" v="0" actId="47"/>
        <pc:sldMkLst>
          <pc:docMk/>
          <pc:sldMk cId="1686896523" sldId="322"/>
        </pc:sldMkLst>
      </pc:sldChg>
      <pc:sldChg chg="del">
        <pc:chgData name="Ninh Ha" userId="dad4f241114e7651" providerId="LiveId" clId="{1A078304-D878-4927-BFEB-13DAA3ADEB16}" dt="2026-01-28T01:19:00.314" v="0" actId="47"/>
        <pc:sldMkLst>
          <pc:docMk/>
          <pc:sldMk cId="433239683" sldId="323"/>
        </pc:sldMkLst>
      </pc:sldChg>
      <pc:sldChg chg="del">
        <pc:chgData name="Ninh Ha" userId="dad4f241114e7651" providerId="LiveId" clId="{1A078304-D878-4927-BFEB-13DAA3ADEB16}" dt="2026-01-28T01:19:00.314" v="0" actId="47"/>
        <pc:sldMkLst>
          <pc:docMk/>
          <pc:sldMk cId="16137316" sldId="324"/>
        </pc:sldMkLst>
      </pc:sldChg>
      <pc:sldChg chg="del">
        <pc:chgData name="Ninh Ha" userId="dad4f241114e7651" providerId="LiveId" clId="{1A078304-D878-4927-BFEB-13DAA3ADEB16}" dt="2026-01-28T01:19:00.314" v="0" actId="47"/>
        <pc:sldMkLst>
          <pc:docMk/>
          <pc:sldMk cId="3785835061" sldId="325"/>
        </pc:sldMkLst>
      </pc:sldChg>
      <pc:sldChg chg="del">
        <pc:chgData name="Ninh Ha" userId="dad4f241114e7651" providerId="LiveId" clId="{1A078304-D878-4927-BFEB-13DAA3ADEB16}" dt="2026-01-28T01:19:00.314" v="0" actId="47"/>
        <pc:sldMkLst>
          <pc:docMk/>
          <pc:sldMk cId="2370594209" sldId="326"/>
        </pc:sldMkLst>
      </pc:sldChg>
      <pc:sldChg chg="del">
        <pc:chgData name="Ninh Ha" userId="dad4f241114e7651" providerId="LiveId" clId="{1A078304-D878-4927-BFEB-13DAA3ADEB16}" dt="2026-01-28T01:19:00.314" v="0" actId="47"/>
        <pc:sldMkLst>
          <pc:docMk/>
          <pc:sldMk cId="3727438753" sldId="32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3346"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atin typeface="Times New Roman" pitchFamily="18" charset="0"/>
              </a:defRPr>
            </a:lvl1pPr>
          </a:lstStyle>
          <a:p>
            <a:endParaRPr lang="en-US"/>
          </a:p>
        </p:txBody>
      </p:sp>
      <p:sp>
        <p:nvSpPr>
          <p:cNvPr id="313347" name="Rectangle 3"/>
          <p:cNvSpPr>
            <a:spLocks noGrp="1" noChangeArrowheads="1"/>
          </p:cNvSpPr>
          <p:nvPr>
            <p:ph type="dt" sz="quarter"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itchFamily="18" charset="0"/>
              </a:defRPr>
            </a:lvl1pPr>
          </a:lstStyle>
          <a:p>
            <a:endParaRPr lang="en-US"/>
          </a:p>
        </p:txBody>
      </p:sp>
      <p:sp>
        <p:nvSpPr>
          <p:cNvPr id="313348" name="Rectangle 4"/>
          <p:cNvSpPr>
            <a:spLocks noGrp="1" noChangeArrowheads="1"/>
          </p:cNvSpPr>
          <p:nvPr>
            <p:ph type="ftr" sz="quarter" idx="2"/>
          </p:nvPr>
        </p:nvSpPr>
        <p:spPr bwMode="auto">
          <a:xfrm>
            <a:off x="0"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atin typeface="Times New Roman" pitchFamily="18" charset="0"/>
              </a:defRPr>
            </a:lvl1pPr>
          </a:lstStyle>
          <a:p>
            <a:endParaRPr lang="en-US"/>
          </a:p>
        </p:txBody>
      </p:sp>
      <p:sp>
        <p:nvSpPr>
          <p:cNvPr id="313349" name="Rectangle 5"/>
          <p:cNvSpPr>
            <a:spLocks noGrp="1" noChangeArrowheads="1"/>
          </p:cNvSpPr>
          <p:nvPr>
            <p:ph type="sldNum" sz="quarter" idx="3"/>
          </p:nvPr>
        </p:nvSpPr>
        <p:spPr bwMode="auto">
          <a:xfrm>
            <a:off x="3849688"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itchFamily="18" charset="0"/>
              </a:defRPr>
            </a:lvl1pPr>
          </a:lstStyle>
          <a:p>
            <a:fld id="{66D17C0D-3159-464E-A332-7C83698A29E4}" type="slidenum">
              <a:rPr lang="en-US"/>
              <a:pPr/>
              <a:t>‹#›</a:t>
            </a:fld>
            <a:endParaRPr lang="en-US"/>
          </a:p>
        </p:txBody>
      </p:sp>
    </p:spTree>
    <p:extLst>
      <p:ext uri="{BB962C8B-B14F-4D97-AF65-F5344CB8AC3E}">
        <p14:creationId xmlns:p14="http://schemas.microsoft.com/office/powerpoint/2010/main" val="1978540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46400" cy="495300"/>
          </a:xfrm>
          <a:prstGeom prst="rect">
            <a:avLst/>
          </a:prstGeom>
          <a:noFill/>
          <a:ln w="9525">
            <a:noFill/>
            <a:miter lim="800000"/>
            <a:headEnd/>
            <a:tailEnd/>
          </a:ln>
          <a:effectLst/>
        </p:spPr>
        <p:txBody>
          <a:bodyPr vert="horz" wrap="square" lIns="95571" tIns="47786" rIns="95571" bIns="47786" numCol="1" anchor="t" anchorCtr="0" compatLnSpc="1">
            <a:prstTxWarp prst="textNoShape">
              <a:avLst/>
            </a:prstTxWarp>
          </a:bodyPr>
          <a:lstStyle>
            <a:lvl1pPr defTabSz="955675" eaLnBrk="1" hangingPunct="1">
              <a:defRPr sz="1300" b="0">
                <a:latin typeface="Times New Roman" pitchFamily="18" charset="0"/>
              </a:defRPr>
            </a:lvl1pPr>
          </a:lstStyle>
          <a:p>
            <a:endParaRPr lang="en-US"/>
          </a:p>
        </p:txBody>
      </p:sp>
      <p:sp>
        <p:nvSpPr>
          <p:cNvPr id="4099" name="Rectangle 3"/>
          <p:cNvSpPr>
            <a:spLocks noGrp="1" noChangeArrowheads="1"/>
          </p:cNvSpPr>
          <p:nvPr>
            <p:ph type="dt" idx="1"/>
          </p:nvPr>
        </p:nvSpPr>
        <p:spPr bwMode="auto">
          <a:xfrm>
            <a:off x="3851275" y="0"/>
            <a:ext cx="2946400" cy="495300"/>
          </a:xfrm>
          <a:prstGeom prst="rect">
            <a:avLst/>
          </a:prstGeom>
          <a:noFill/>
          <a:ln w="9525">
            <a:noFill/>
            <a:miter lim="800000"/>
            <a:headEnd/>
            <a:tailEnd/>
          </a:ln>
          <a:effectLst/>
        </p:spPr>
        <p:txBody>
          <a:bodyPr vert="horz" wrap="square" lIns="95571" tIns="47786" rIns="95571" bIns="47786" numCol="1" anchor="t" anchorCtr="0" compatLnSpc="1">
            <a:prstTxWarp prst="textNoShape">
              <a:avLst/>
            </a:prstTxWarp>
          </a:bodyPr>
          <a:lstStyle>
            <a:lvl1pPr algn="r" defTabSz="955675" eaLnBrk="1" hangingPunct="1">
              <a:defRPr sz="1300" b="0">
                <a:latin typeface="Times New Roman" pitchFamily="18" charset="0"/>
              </a:defRPr>
            </a:lvl1pPr>
          </a:lstStyle>
          <a:p>
            <a:endParaRPr lang="en-US"/>
          </a:p>
        </p:txBody>
      </p:sp>
      <p:sp>
        <p:nvSpPr>
          <p:cNvPr id="4100" name="Rectangle 4"/>
          <p:cNvSpPr>
            <a:spLocks noGrp="1" noRot="1" noChangeAspect="1" noChangeArrowheads="1" noTextEdit="1"/>
          </p:cNvSpPr>
          <p:nvPr>
            <p:ph type="sldImg" idx="2"/>
          </p:nvPr>
        </p:nvSpPr>
        <p:spPr bwMode="auto">
          <a:xfrm>
            <a:off x="92075" y="746125"/>
            <a:ext cx="6615113" cy="3721100"/>
          </a:xfrm>
          <a:prstGeom prst="rect">
            <a:avLst/>
          </a:prstGeom>
          <a:noFill/>
          <a:ln w="9525">
            <a:solidFill>
              <a:srgbClr val="000000"/>
            </a:solidFill>
            <a:miter lim="800000"/>
            <a:headEnd/>
            <a:tailEnd/>
          </a:ln>
          <a:effectLst/>
        </p:spPr>
      </p:sp>
      <p:sp>
        <p:nvSpPr>
          <p:cNvPr id="4101" name="Rectangle 5"/>
          <p:cNvSpPr>
            <a:spLocks noGrp="1" noChangeArrowheads="1"/>
          </p:cNvSpPr>
          <p:nvPr>
            <p:ph type="body" sz="quarter" idx="3"/>
          </p:nvPr>
        </p:nvSpPr>
        <p:spPr bwMode="auto">
          <a:xfrm>
            <a:off x="906463" y="4714875"/>
            <a:ext cx="4984750" cy="4467225"/>
          </a:xfrm>
          <a:prstGeom prst="rect">
            <a:avLst/>
          </a:prstGeom>
          <a:noFill/>
          <a:ln w="9525">
            <a:noFill/>
            <a:miter lim="800000"/>
            <a:headEnd/>
            <a:tailEnd/>
          </a:ln>
          <a:effectLst/>
        </p:spPr>
        <p:txBody>
          <a:bodyPr vert="horz" wrap="square" lIns="95571" tIns="47786" rIns="95571" bIns="47786" numCol="1" anchor="t" anchorCtr="0" compatLnSpc="1">
            <a:prstTxWarp prst="textNoShape">
              <a:avLst/>
            </a:prstTxWarp>
          </a:bodyPr>
          <a:lstStyle/>
          <a:p>
            <a:pPr lvl="0"/>
            <a:r>
              <a:rPr lang="en-US"/>
              <a:t>Klicken Sie, um die Formate des Vorlagentextes zu bearbeiten</a:t>
            </a:r>
          </a:p>
          <a:p>
            <a:pPr lvl="1"/>
            <a:r>
              <a:rPr lang="en-US"/>
              <a:t>Zweite Ebene</a:t>
            </a:r>
          </a:p>
          <a:p>
            <a:pPr lvl="2"/>
            <a:r>
              <a:rPr lang="en-US"/>
              <a:t>Dritte Ebene</a:t>
            </a:r>
          </a:p>
          <a:p>
            <a:pPr lvl="3"/>
            <a:r>
              <a:rPr lang="en-US"/>
              <a:t>Vierte Ebene</a:t>
            </a:r>
          </a:p>
          <a:p>
            <a:pPr lvl="4"/>
            <a:r>
              <a:rPr lang="en-US"/>
              <a:t>Fünfte Ebene</a:t>
            </a:r>
          </a:p>
        </p:txBody>
      </p:sp>
      <p:sp>
        <p:nvSpPr>
          <p:cNvPr id="4102" name="Rectangle 6"/>
          <p:cNvSpPr>
            <a:spLocks noGrp="1" noChangeArrowheads="1"/>
          </p:cNvSpPr>
          <p:nvPr>
            <p:ph type="ftr" sz="quarter" idx="4"/>
          </p:nvPr>
        </p:nvSpPr>
        <p:spPr bwMode="auto">
          <a:xfrm>
            <a:off x="0" y="9432925"/>
            <a:ext cx="2946400" cy="495300"/>
          </a:xfrm>
          <a:prstGeom prst="rect">
            <a:avLst/>
          </a:prstGeom>
          <a:noFill/>
          <a:ln w="9525">
            <a:noFill/>
            <a:miter lim="800000"/>
            <a:headEnd/>
            <a:tailEnd/>
          </a:ln>
          <a:effectLst/>
        </p:spPr>
        <p:txBody>
          <a:bodyPr vert="horz" wrap="square" lIns="95571" tIns="47786" rIns="95571" bIns="47786" numCol="1" anchor="b" anchorCtr="0" compatLnSpc="1">
            <a:prstTxWarp prst="textNoShape">
              <a:avLst/>
            </a:prstTxWarp>
          </a:bodyPr>
          <a:lstStyle>
            <a:lvl1pPr defTabSz="955675" eaLnBrk="1" hangingPunct="1">
              <a:defRPr sz="1300" b="0">
                <a:latin typeface="Times New Roman" pitchFamily="18" charset="0"/>
              </a:defRPr>
            </a:lvl1pPr>
          </a:lstStyle>
          <a:p>
            <a:endParaRPr lang="en-US"/>
          </a:p>
        </p:txBody>
      </p:sp>
      <p:sp>
        <p:nvSpPr>
          <p:cNvPr id="4103" name="Rectangle 7"/>
          <p:cNvSpPr>
            <a:spLocks noGrp="1" noChangeArrowheads="1"/>
          </p:cNvSpPr>
          <p:nvPr>
            <p:ph type="sldNum" sz="quarter" idx="5"/>
          </p:nvPr>
        </p:nvSpPr>
        <p:spPr bwMode="auto">
          <a:xfrm>
            <a:off x="3851275" y="9432925"/>
            <a:ext cx="2946400" cy="495300"/>
          </a:xfrm>
          <a:prstGeom prst="rect">
            <a:avLst/>
          </a:prstGeom>
          <a:noFill/>
          <a:ln w="9525">
            <a:noFill/>
            <a:miter lim="800000"/>
            <a:headEnd/>
            <a:tailEnd/>
          </a:ln>
          <a:effectLst/>
        </p:spPr>
        <p:txBody>
          <a:bodyPr vert="horz" wrap="square" lIns="95571" tIns="47786" rIns="95571" bIns="47786" numCol="1" anchor="b" anchorCtr="0" compatLnSpc="1">
            <a:prstTxWarp prst="textNoShape">
              <a:avLst/>
            </a:prstTxWarp>
          </a:bodyPr>
          <a:lstStyle>
            <a:lvl1pPr algn="r" defTabSz="955675" eaLnBrk="1" hangingPunct="1">
              <a:defRPr sz="1300" b="0">
                <a:latin typeface="Times New Roman" pitchFamily="18" charset="0"/>
              </a:defRPr>
            </a:lvl1pPr>
          </a:lstStyle>
          <a:p>
            <a:fld id="{412C2970-D838-4E16-9F7E-5362C8D6E639}" type="slidenum">
              <a:rPr lang="en-US"/>
              <a:pPr/>
              <a:t>‹#›</a:t>
            </a:fld>
            <a:endParaRPr lang="en-US"/>
          </a:p>
        </p:txBody>
      </p:sp>
    </p:spTree>
    <p:extLst>
      <p:ext uri="{BB962C8B-B14F-4D97-AF65-F5344CB8AC3E}">
        <p14:creationId xmlns:p14="http://schemas.microsoft.com/office/powerpoint/2010/main" val="366822148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Thầy/Cô trong Hội đồng và Giảng viên hướng dẫn TS. Trần Quang Quý, hôm nay nhóm chúng em xin phép được trình bày báo cáo đề tài đồ án môn học Phát triển ứng dụng AI với đề tài: 'Xây dựng hệ thống quản lý phòng khám thú y và Trợ lý AI chăm sóc thú cưng toàn diện - PetCare 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Xuất phát từ thực tế thị trường thú cưng tăng trưởng trên 15% mỗi năm, các phòng khám thú y hiện nay đang đối mặt với 4 điểm nghẽn lớn: quá tải tư vấn, bệnh án phân tán, thiếu công cụ cấp cứu kịp thời và theo dõi nội trú rời rạc. Đề tài PetCare AI ra đời nhằm giải quyết triệt để các bài toán này.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cốt lõi của đề tài là xây dựng hệ thống quản lý chuẩn y khoa đi kèm Trợ lý AI tư vấn 24/7 dưới 650ms. Ranh giới hệ thống được xác định rõ: AI chỉ đóng vai trò hỗ trợ, không thay thế bác sĩ và không tự ý kê đơn thuốc.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em ứng dụng kiến trúc Transformer kết hợp cơ chế Multi-Head Attention và kỹ thuật Prompt Engineering y khoa. Hệ thống tự động nhúng thông tin giống loài, độ tuổi vào ngữ cảnh để câu trả lời mang tính cá nhân hóa cao nhất.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đột phá của dự án là bộ 3 chốt chặn an toàn: Chốt 1 sàng lọc phạm vi thú y, Chốt 2 kích hoạt cấp cứu tức thời khi phát hiện nguy kịch, Chốt 3 nghiêm cấm kê đơn thuốc kháng sinh bừa bãi.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Hội đồng, hệ thống PetCare AI hoạt động qua 4 bước rất rõ ràng: Bước 1 tiếp nhận câu hỏi của gia chủ; Bước 2 tự động tra cứu hồ sơ giống loài, cân nặng và lịch tiêm; Bước 3 bộ não AI phân tích và kiểm duyệt an toàn y tế; Bước 4 xuất lời khuyên dễ hiểu kèm nút đặt lịch khám bác sĩ.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được thiết kế với 34 bảng quan hệ chuẩn 3NF, phân tách rõ ràng thành 5 phân vùng nghiệp vụ từ tiếp đón, khám lâm sàng cho đến điều trị nội trú và quản lý giao dịch.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Giao diện phân hệ Khách hàng cho phép chủ nuôi trò chuyện trực tiếp với Trợ lý AI, tra cứu sổ tiêm phòng điện tử và quản lý thẻ QR khẩn cấp gắn trên vòng cổ thú cưng.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Bác sĩ có thể nhập liệu bệnh án điện tử có cấu trúc, kê đơn tương tác thuốc và thực hiện các cuộc gọi khám bệnh từ xa Telehealth chất lượng cao qua WebRTC.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Bàn tiếp đón lễ tân hỗ trợ check-in nhanh dưới 30 giây và tích hợp chuẩn VietQR Napas247, giúp khách hàng quét mã thanh toán không tiền mặt và hệ thống tự động gạch nợ.</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Tính năng AI Care Brief giúp điều dưỡng và bác sĩ tiết kiệm thời gian giao ban: thay vì đọc nhật ký rải rác, AI tự động tổng hợp diễn biến 24h điều trị thành bản tóm tắt 30 giây.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Admin cung cấp công cụ quản trị phân quyền RBAC, theo dõi kho dược phẩm và bảng phân tích kinh doanh BI theo thời gian thực.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kiểm thử lâm sàng trên 6 tình huống mẫu cho thấy hệ thống đạt 100% tỷ lệ an toàn y tế, độ trễ phản hồi dưới 650ms và vượt qua 100% các bài kiểm thử backend/frontend.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chúng em đã hoàn thành toàn diện các mục tiêu đề ra và sẵn sàng đưa sản phẩm vào triển khai thực tế. Chúng em xin chân thành cảm ơn Thầy TS. Trần Quang Quý và Hội đồng đã chú ý lắng nghe!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94" y="2946"/>
            <a:ext cx="9147480" cy="5144853"/>
          </a:xfrm>
          <a:prstGeom prst="rect">
            <a:avLst/>
          </a:prstGeom>
        </p:spPr>
      </p:pic>
      <p:sp>
        <p:nvSpPr>
          <p:cNvPr id="181250" name="Rectangle 2"/>
          <p:cNvSpPr>
            <a:spLocks noGrp="1" noChangeArrowheads="1"/>
          </p:cNvSpPr>
          <p:nvPr>
            <p:ph type="ctrTitle" sz="quarter" hasCustomPrompt="1"/>
          </p:nvPr>
        </p:nvSpPr>
        <p:spPr>
          <a:xfrm>
            <a:off x="366714" y="1470422"/>
            <a:ext cx="8410575" cy="1371600"/>
          </a:xfrm>
          <a:noFill/>
        </p:spPr>
        <p:txBody>
          <a:bodyPr/>
          <a:lstStyle>
            <a:lvl1pPr>
              <a:defRPr lang="en-GB" sz="4000" b="0" i="0" baseline="0" dirty="0">
                <a:solidFill>
                  <a:srgbClr val="063D79"/>
                </a:solidFill>
                <a:effectLst/>
                <a:latin typeface="+mn-lt"/>
                <a:ea typeface="+mj-ea"/>
                <a:cs typeface="+mj-cs"/>
              </a:defRPr>
            </a:lvl1pPr>
          </a:lstStyle>
          <a:p>
            <a:pPr fontAlgn="t"/>
            <a:r>
              <a:rPr lang="de-DE"/>
              <a:t>Click vào đây để chỉnh sửa tiêu đề</a:t>
            </a:r>
            <a:br>
              <a:rPr lang="vi-VN" b="0" i="0">
                <a:solidFill>
                  <a:srgbClr val="777777"/>
                </a:solidFill>
                <a:effectLst/>
                <a:latin typeface="Roboto"/>
              </a:rPr>
            </a:br>
            <a:endParaRPr lang="en-GB" dirty="0"/>
          </a:p>
        </p:txBody>
      </p:sp>
      <p:sp>
        <p:nvSpPr>
          <p:cNvPr id="181253" name="Rectangle 5"/>
          <p:cNvSpPr>
            <a:spLocks noGrp="1" noChangeArrowheads="1"/>
          </p:cNvSpPr>
          <p:nvPr>
            <p:ph type="subTitle" sz="quarter" idx="1" hasCustomPrompt="1"/>
          </p:nvPr>
        </p:nvSpPr>
        <p:spPr>
          <a:xfrm>
            <a:off x="1371600" y="3112294"/>
            <a:ext cx="6400800" cy="304800"/>
          </a:xfrm>
        </p:spPr>
        <p:txBody>
          <a:bodyPr lIns="91440" tIns="45720" rIns="91440" bIns="45720"/>
          <a:lstStyle>
            <a:lvl1pPr marL="0" indent="0" algn="ctr">
              <a:buFont typeface="Wingdings 3" pitchFamily="18" charset="2"/>
              <a:buNone/>
              <a:defRPr b="1">
                <a:solidFill>
                  <a:schemeClr val="tx1"/>
                </a:solidFill>
              </a:defRPr>
            </a:lvl1pPr>
          </a:lstStyle>
          <a:p>
            <a:r>
              <a:rPr lang="en-US" dirty="0"/>
              <a:t>Click to edit author name</a:t>
            </a:r>
            <a:endParaRPr lang="de-DE" dirty="0"/>
          </a:p>
        </p:txBody>
      </p:sp>
      <p:pic>
        <p:nvPicPr>
          <p:cNvPr id="9" name="Grafik 8"/>
          <p:cNvPicPr>
            <a:picLocks noChangeAspect="1"/>
          </p:cNvPicPr>
          <p:nvPr userDrawn="1"/>
        </p:nvPicPr>
        <p:blipFill>
          <a:blip r:embed="rId3"/>
          <a:stretch>
            <a:fillRect/>
          </a:stretch>
        </p:blipFill>
        <p:spPr>
          <a:xfrm>
            <a:off x="1" y="5191223"/>
            <a:ext cx="1777589" cy="234900"/>
          </a:xfrm>
          <a:prstGeom prst="rect">
            <a:avLst/>
          </a:prstGeom>
        </p:spPr>
      </p:pic>
      <p:pic>
        <p:nvPicPr>
          <p:cNvPr id="10" name="Grafik 9"/>
          <p:cNvPicPr>
            <a:picLocks noChangeAspect="1"/>
          </p:cNvPicPr>
          <p:nvPr userDrawn="1"/>
        </p:nvPicPr>
        <p:blipFill>
          <a:blip r:embed="rId4"/>
          <a:stretch>
            <a:fillRect/>
          </a:stretch>
        </p:blipFill>
        <p:spPr>
          <a:xfrm>
            <a:off x="1832767" y="5191223"/>
            <a:ext cx="1777589" cy="234900"/>
          </a:xfrm>
          <a:prstGeom prst="rect">
            <a:avLst/>
          </a:prstGeom>
        </p:spPr>
      </p:pic>
      <p:pic>
        <p:nvPicPr>
          <p:cNvPr id="11" name="Grafik 10"/>
          <p:cNvPicPr>
            <a:picLocks noChangeAspect="1"/>
          </p:cNvPicPr>
          <p:nvPr userDrawn="1"/>
        </p:nvPicPr>
        <p:blipFill>
          <a:blip r:embed="rId5"/>
          <a:stretch>
            <a:fillRect/>
          </a:stretch>
        </p:blipFill>
        <p:spPr>
          <a:xfrm>
            <a:off x="3665534" y="5191223"/>
            <a:ext cx="1777581" cy="234900"/>
          </a:xfrm>
          <a:prstGeom prst="rect">
            <a:avLst/>
          </a:prstGeom>
        </p:spPr>
      </p:pic>
      <p:pic>
        <p:nvPicPr>
          <p:cNvPr id="12" name="Grafik 11"/>
          <p:cNvPicPr>
            <a:picLocks noChangeAspect="1"/>
          </p:cNvPicPr>
          <p:nvPr userDrawn="1"/>
        </p:nvPicPr>
        <p:blipFill>
          <a:blip r:embed="rId6"/>
          <a:stretch>
            <a:fillRect/>
          </a:stretch>
        </p:blipFill>
        <p:spPr>
          <a:xfrm>
            <a:off x="5518933" y="5191223"/>
            <a:ext cx="1777589" cy="234900"/>
          </a:xfrm>
          <a:prstGeom prst="rect">
            <a:avLst/>
          </a:prstGeom>
        </p:spPr>
      </p:pic>
      <p:pic>
        <p:nvPicPr>
          <p:cNvPr id="13" name="Grafik 12"/>
          <p:cNvPicPr>
            <a:picLocks noChangeAspect="1"/>
          </p:cNvPicPr>
          <p:nvPr userDrawn="1"/>
        </p:nvPicPr>
        <p:blipFill>
          <a:blip r:embed="rId7"/>
          <a:stretch>
            <a:fillRect/>
          </a:stretch>
        </p:blipFill>
        <p:spPr>
          <a:xfrm>
            <a:off x="7377962" y="5191223"/>
            <a:ext cx="1759433" cy="2349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vi-VN"/>
              <a:t>Nhấn vào đây để chỉnh sửa định dạng tiêu đề</a:t>
            </a:r>
            <a:endParaRPr lang="de-DE"/>
          </a:p>
        </p:txBody>
      </p:sp>
      <p:sp>
        <p:nvSpPr>
          <p:cNvPr id="3" name="Content Placeholder 2"/>
          <p:cNvSpPr>
            <a:spLocks noGrp="1"/>
          </p:cNvSpPr>
          <p:nvPr>
            <p:ph idx="1" hasCustomPrompt="1"/>
          </p:nvPr>
        </p:nvSpPr>
        <p:spPr/>
        <p:txBody>
          <a:bodyPr/>
          <a:lstStyle>
            <a:lvl1pPr>
              <a:buClr>
                <a:srgbClr val="063D79"/>
              </a:buClr>
              <a:defRPr/>
            </a:lvl1pPr>
            <a:lvl2pPr>
              <a:buClr>
                <a:srgbClr val="063D79"/>
              </a:buClr>
              <a:defRPr/>
            </a:lvl2pPr>
            <a:lvl3pPr>
              <a:buClr>
                <a:srgbClr val="063D79"/>
              </a:buClr>
              <a:defRPr/>
            </a:lvl3pPr>
            <a:lvl4pPr>
              <a:buClr>
                <a:srgbClr val="063D79"/>
              </a:buClr>
              <a:defRPr/>
            </a:lvl4pPr>
          </a:lstStyle>
          <a:p>
            <a:pPr lvl="0"/>
            <a:r>
              <a:rPr lang="vi-VN"/>
              <a:t>Nhấn vào đây để chỉnh sửa các kiểu văn bản mẫu</a:t>
            </a:r>
            <a:endParaRPr lang="en-US"/>
          </a:p>
          <a:p>
            <a:pPr lvl="1"/>
            <a:r>
              <a:rPr lang="en-GB"/>
              <a:t>Cấp thứ hai</a:t>
            </a:r>
          </a:p>
          <a:p>
            <a:pPr lvl="2"/>
            <a:r>
              <a:rPr lang="en-GB"/>
              <a:t>Cấp thứ ba</a:t>
            </a:r>
          </a:p>
          <a:p>
            <a:pPr lvl="3"/>
            <a:r>
              <a:rPr lang="en-GB"/>
              <a:t>Cấp thứ tư</a:t>
            </a:r>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3305176"/>
            <a:ext cx="7772400" cy="1021556"/>
          </a:xfrm>
        </p:spPr>
        <p:txBody>
          <a:bodyPr anchor="t"/>
          <a:lstStyle>
            <a:lvl1pPr algn="l">
              <a:defRPr sz="4000" b="1" cap="all"/>
            </a:lvl1pPr>
          </a:lstStyle>
          <a:p>
            <a:r>
              <a:rPr lang="vi-VN"/>
              <a:t>Nhấn vào đây để chỉnh sửa định dạng tiêu đề</a:t>
            </a:r>
            <a:endParaRPr lang="de-DE" dirty="0"/>
          </a:p>
        </p:txBody>
      </p:sp>
      <p:sp>
        <p:nvSpPr>
          <p:cNvPr id="3" name="Text Placeholder 2"/>
          <p:cNvSpPr>
            <a:spLocks noGrp="1"/>
          </p:cNvSpPr>
          <p:nvPr>
            <p:ph type="body" idx="1" hasCustomPrompt="1"/>
          </p:nvPr>
        </p:nvSpPr>
        <p:spPr>
          <a:xfrm>
            <a:off x="722313" y="2180035"/>
            <a:ext cx="7772400" cy="1125140"/>
          </a:xfrm>
        </p:spPr>
        <p:txBody>
          <a:bodyPr anchor="b"/>
          <a:lstStyle>
            <a:lvl1pPr marL="0" indent="0">
              <a:buNone/>
              <a:defRPr sz="24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vi-VN"/>
              <a:t>Nhấn vào đây để chỉnh sửa định dạng tiêu đề</a:t>
            </a: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Content Placeholder 2"/>
          <p:cNvSpPr>
            <a:spLocks noGrp="1"/>
          </p:cNvSpPr>
          <p:nvPr>
            <p:ph sz="half" idx="1" hasCustomPrompt="1"/>
          </p:nvPr>
        </p:nvSpPr>
        <p:spPr>
          <a:xfrm>
            <a:off x="533400" y="685800"/>
            <a:ext cx="3924300" cy="3829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vi-VN"/>
              <a:t>Nhấn vào đây để chỉnh sửa các kiểu văn bản mẫu</a:t>
            </a:r>
            <a:endParaRPr lang="en-US"/>
          </a:p>
          <a:p>
            <a:pPr lvl="1"/>
            <a:r>
              <a:rPr lang="en-GB"/>
              <a:t>Cấp thứ hai</a:t>
            </a:r>
          </a:p>
          <a:p>
            <a:pPr lvl="2"/>
            <a:r>
              <a:rPr lang="en-GB"/>
              <a:t>Cấp thứ ba</a:t>
            </a:r>
          </a:p>
          <a:p>
            <a:pPr lvl="3"/>
            <a:r>
              <a:rPr lang="en-GB"/>
              <a:t>Cấp thứ tư</a:t>
            </a:r>
            <a:endParaRPr lang="en-GB" dirty="0"/>
          </a:p>
        </p:txBody>
      </p:sp>
      <p:sp>
        <p:nvSpPr>
          <p:cNvPr id="4" name="Content Placeholder 3"/>
          <p:cNvSpPr>
            <a:spLocks noGrp="1"/>
          </p:cNvSpPr>
          <p:nvPr>
            <p:ph sz="half" idx="2" hasCustomPrompt="1"/>
          </p:nvPr>
        </p:nvSpPr>
        <p:spPr>
          <a:xfrm>
            <a:off x="4610100" y="685800"/>
            <a:ext cx="3924300" cy="3829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vi-VN"/>
              <a:t>Nhấn vào đây để chỉnh sửa các kiểu văn bản mẫu</a:t>
            </a:r>
            <a:endParaRPr lang="en-US"/>
          </a:p>
          <a:p>
            <a:pPr lvl="1"/>
            <a:r>
              <a:rPr lang="en-GB"/>
              <a:t>Cấp thứ hai</a:t>
            </a:r>
          </a:p>
          <a:p>
            <a:pPr lvl="2"/>
            <a:r>
              <a:rPr lang="en-GB"/>
              <a:t>Cấp thứ ba</a:t>
            </a:r>
          </a:p>
          <a:p>
            <a:pPr lvl="3"/>
            <a:r>
              <a:rPr lang="en-GB"/>
              <a:t>Cấp thứ tư</a:t>
            </a:r>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de-DE"/>
              <a:t>Click vào đây để chỉnh sửa tiêu đề</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Farbschema">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de-DE"/>
              <a:t>Màu sắc</a:t>
            </a:r>
            <a:endParaRPr lang="de-DE" dirty="0"/>
          </a:p>
        </p:txBody>
      </p:sp>
      <p:pic>
        <p:nvPicPr>
          <p:cNvPr id="3" name="Grafik 2"/>
          <p:cNvPicPr>
            <a:picLocks noChangeAspect="1"/>
          </p:cNvPicPr>
          <p:nvPr userDrawn="1"/>
        </p:nvPicPr>
        <p:blipFill>
          <a:blip r:embed="rId2"/>
          <a:stretch>
            <a:fillRect/>
          </a:stretch>
        </p:blipFill>
        <p:spPr>
          <a:xfrm>
            <a:off x="431825" y="789552"/>
            <a:ext cx="8208912" cy="3659909"/>
          </a:xfrm>
          <a:prstGeom prst="rect">
            <a:avLst/>
          </a:prstGeom>
        </p:spPr>
      </p:pic>
    </p:spTree>
    <p:extLst>
      <p:ext uri="{BB962C8B-B14F-4D97-AF65-F5344CB8AC3E}">
        <p14:creationId xmlns:p14="http://schemas.microsoft.com/office/powerpoint/2010/main" val="107093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1" y="204787"/>
            <a:ext cx="3008313" cy="871538"/>
          </a:xfrm>
        </p:spPr>
        <p:txBody>
          <a:bodyPr anchor="b"/>
          <a:lstStyle>
            <a:lvl1pPr algn="l">
              <a:defRPr sz="2000" b="1"/>
            </a:lvl1pPr>
          </a:lstStyle>
          <a:p>
            <a:r>
              <a:rPr lang="de-DE"/>
              <a:t>Click vào đây để chỉnh sửa tiêu đề</a:t>
            </a:r>
          </a:p>
        </p:txBody>
      </p:sp>
      <p:sp>
        <p:nvSpPr>
          <p:cNvPr id="3" name="Content Placeholder 2"/>
          <p:cNvSpPr>
            <a:spLocks noGrp="1"/>
          </p:cNvSpPr>
          <p:nvPr>
            <p:ph idx="1" hasCustomPrompt="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Nhấn vào đây để chỉnh sửa các kiểu văn bản mẫu</a:t>
            </a:r>
            <a:endParaRPr lang="en-US"/>
          </a:p>
          <a:p>
            <a:pPr lvl="1"/>
            <a:r>
              <a:rPr lang="en-GB"/>
              <a:t>Cấp thứ hai</a:t>
            </a:r>
          </a:p>
          <a:p>
            <a:pPr lvl="2"/>
            <a:r>
              <a:rPr lang="en-GB"/>
              <a:t>Cấp thứ ba</a:t>
            </a:r>
          </a:p>
          <a:p>
            <a:pPr lvl="3"/>
            <a:r>
              <a:rPr lang="en-GB"/>
              <a:t>Cấp thứ tư</a:t>
            </a:r>
            <a:endParaRPr lang="en-GB" dirty="0"/>
          </a:p>
        </p:txBody>
      </p:sp>
      <p:sp>
        <p:nvSpPr>
          <p:cNvPr id="4" name="Text Placeholder 3"/>
          <p:cNvSpPr>
            <a:spLocks noGrp="1"/>
          </p:cNvSpPr>
          <p:nvPr>
            <p:ph type="body" sz="half" idx="2" hasCustomPrompt="1"/>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Nhấn vào đây để chỉnh sửa các kiểu văn bản mẫu</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2288" y="3600450"/>
            <a:ext cx="5486400" cy="425054"/>
          </a:xfrm>
        </p:spPr>
        <p:txBody>
          <a:bodyPr anchor="b"/>
          <a:lstStyle>
            <a:lvl1pPr algn="l">
              <a:defRPr sz="2000" b="1"/>
            </a:lvl1pPr>
          </a:lstStyle>
          <a:p>
            <a:r>
              <a:rPr lang="de-DE"/>
              <a:t>Click vào đây để chỉnh sửa tiêu đề</a:t>
            </a:r>
            <a:endParaRPr lang="de-DE" dirty="0"/>
          </a:p>
        </p:txBody>
      </p:sp>
      <p:sp>
        <p:nvSpPr>
          <p:cNvPr id="3" name="Picture Placeholder 2"/>
          <p:cNvSpPr>
            <a:spLocks noGrp="1"/>
          </p:cNvSpPr>
          <p:nvPr>
            <p:ph type="pic" idx="1" hasCustomPrompt="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vi-VN"/>
              <a:t>Thêm hình ảnh bằng cách nhấp vào biểu tượng</a:t>
            </a:r>
            <a:endParaRPr lang="de-DE" dirty="0"/>
          </a:p>
        </p:txBody>
      </p:sp>
      <p:sp>
        <p:nvSpPr>
          <p:cNvPr id="4" name="Text Placeholder 3"/>
          <p:cNvSpPr>
            <a:spLocks noGrp="1"/>
          </p:cNvSpPr>
          <p:nvPr>
            <p:ph type="body" sz="half" idx="2" hasCustomPrompt="1"/>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Nhấn vào đây để chỉnh sửa các kiểu văn bản mẫu</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 Id="rId12" Type="http://schemas.openxmlformats.org/officeDocument/2006/relationships/image" Target="../media/image2.png"/><Relationship Id="rId13" Type="http://schemas.openxmlformats.org/officeDocument/2006/relationships/image" Target="../media/image3.png"/><Relationship Id="rId14" Type="http://schemas.openxmlformats.org/officeDocument/2006/relationships/image" Target="../media/image4.png"/><Relationship Id="rId15" Type="http://schemas.openxmlformats.org/officeDocument/2006/relationships/image" Target="../media/image5.png"/><Relationship Id="rId16"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732" y="4591169"/>
            <a:ext cx="9135268" cy="551123"/>
          </a:xfrm>
          <a:prstGeom prst="rect">
            <a:avLst/>
          </a:prstGeom>
        </p:spPr>
      </p:pic>
      <p:sp>
        <p:nvSpPr>
          <p:cNvPr id="180226" name="Rectangle 2"/>
          <p:cNvSpPr>
            <a:spLocks noGrp="1" noChangeArrowheads="1"/>
          </p:cNvSpPr>
          <p:nvPr>
            <p:ph type="title"/>
          </p:nvPr>
        </p:nvSpPr>
        <p:spPr bwMode="auto">
          <a:xfrm>
            <a:off x="539751" y="22622"/>
            <a:ext cx="7993063" cy="484584"/>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vi-VN"/>
              <a:t>Nhấn vào đây để chỉnh sửa định dạng tiêu đề</a:t>
            </a:r>
            <a:endParaRPr lang="en-GB" dirty="0"/>
          </a:p>
        </p:txBody>
      </p:sp>
      <p:sp>
        <p:nvSpPr>
          <p:cNvPr id="180227" name="Rectangle 3"/>
          <p:cNvSpPr>
            <a:spLocks noGrp="1" noChangeArrowheads="1"/>
          </p:cNvSpPr>
          <p:nvPr>
            <p:ph type="body" idx="1"/>
          </p:nvPr>
        </p:nvSpPr>
        <p:spPr bwMode="auto">
          <a:xfrm>
            <a:off x="533400" y="685800"/>
            <a:ext cx="8001000" cy="382905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vi-VN" dirty="0"/>
              <a:t>Nhấn vào đây để chỉnh sửa các kiểu văn bản mẫu</a:t>
            </a:r>
            <a:endParaRPr lang="en-US" dirty="0"/>
          </a:p>
          <a:p>
            <a:pPr lvl="1"/>
            <a:r>
              <a:rPr lang="en-GB" dirty="0" err="1"/>
              <a:t>Cấp</a:t>
            </a:r>
            <a:r>
              <a:rPr lang="en-GB" dirty="0"/>
              <a:t> </a:t>
            </a:r>
            <a:r>
              <a:rPr lang="en-GB" dirty="0" err="1"/>
              <a:t>thứ</a:t>
            </a:r>
            <a:r>
              <a:rPr lang="en-GB" dirty="0"/>
              <a:t> </a:t>
            </a:r>
            <a:r>
              <a:rPr lang="en-GB" dirty="0" err="1"/>
              <a:t>hai</a:t>
            </a:r>
            <a:endParaRPr lang="en-GB" dirty="0"/>
          </a:p>
          <a:p>
            <a:pPr lvl="2"/>
            <a:r>
              <a:rPr lang="en-GB" dirty="0" err="1"/>
              <a:t>Cấp</a:t>
            </a:r>
            <a:r>
              <a:rPr lang="en-GB" dirty="0"/>
              <a:t> </a:t>
            </a:r>
            <a:r>
              <a:rPr lang="en-GB" dirty="0" err="1"/>
              <a:t>thứ</a:t>
            </a:r>
            <a:r>
              <a:rPr lang="en-GB" dirty="0"/>
              <a:t> </a:t>
            </a:r>
            <a:r>
              <a:rPr lang="en-GB" dirty="0" err="1"/>
              <a:t>ba</a:t>
            </a:r>
            <a:endParaRPr lang="en-GB" dirty="0"/>
          </a:p>
          <a:p>
            <a:pPr lvl="3"/>
            <a:r>
              <a:rPr lang="en-GB" dirty="0" err="1"/>
              <a:t>Cấp</a:t>
            </a:r>
            <a:r>
              <a:rPr lang="en-GB" dirty="0"/>
              <a:t> </a:t>
            </a:r>
            <a:r>
              <a:rPr lang="en-GB" dirty="0" err="1"/>
              <a:t>thứ</a:t>
            </a:r>
            <a:r>
              <a:rPr lang="en-GB" dirty="0"/>
              <a:t> </a:t>
            </a:r>
            <a:r>
              <a:rPr lang="en-GB" dirty="0" err="1"/>
              <a:t>tư</a:t>
            </a:r>
            <a:endParaRPr lang="en-GB" dirty="0"/>
          </a:p>
        </p:txBody>
      </p:sp>
      <p:sp>
        <p:nvSpPr>
          <p:cNvPr id="180254" name="Line 30"/>
          <p:cNvSpPr>
            <a:spLocks noChangeShapeType="1"/>
          </p:cNvSpPr>
          <p:nvPr/>
        </p:nvSpPr>
        <p:spPr bwMode="auto">
          <a:xfrm flipV="1">
            <a:off x="131763" y="519113"/>
            <a:ext cx="8856662" cy="0"/>
          </a:xfrm>
          <a:prstGeom prst="line">
            <a:avLst/>
          </a:prstGeom>
          <a:noFill/>
          <a:ln w="28575">
            <a:solidFill>
              <a:schemeClr val="bg2"/>
            </a:solidFill>
            <a:round/>
            <a:headEnd type="none" w="sm" len="sm"/>
            <a:tailEnd type="none" w="sm" len="sm"/>
          </a:ln>
          <a:effectLst/>
        </p:spPr>
        <p:txBody>
          <a:bodyPr wrap="none" anchor="ctr"/>
          <a:lstStyle/>
          <a:p>
            <a:endParaRPr lang="de-DE"/>
          </a:p>
        </p:txBody>
      </p:sp>
      <p:sp>
        <p:nvSpPr>
          <p:cNvPr id="180258" name="Text Box 34"/>
          <p:cNvSpPr txBox="1">
            <a:spLocks noChangeArrowheads="1"/>
          </p:cNvSpPr>
          <p:nvPr/>
        </p:nvSpPr>
        <p:spPr bwMode="auto">
          <a:xfrm>
            <a:off x="8395825" y="4785996"/>
            <a:ext cx="381835" cy="276999"/>
          </a:xfrm>
          <a:prstGeom prst="rect">
            <a:avLst/>
          </a:prstGeom>
          <a:noFill/>
          <a:ln w="12700">
            <a:noFill/>
            <a:miter lim="800000"/>
            <a:headEnd type="none" w="sm" len="sm"/>
            <a:tailEnd type="none" w="sm" len="sm"/>
          </a:ln>
          <a:effectLst/>
        </p:spPr>
        <p:txBody>
          <a:bodyPr wrap="none">
            <a:spAutoFit/>
          </a:bodyPr>
          <a:lstStyle/>
          <a:p>
            <a:pPr algn="r"/>
            <a:fld id="{AA316C04-7673-4CAB-99E0-6C1D8F626C8B}" type="slidenum">
              <a:rPr lang="de-DE" sz="1200" b="0">
                <a:solidFill>
                  <a:schemeClr val="bg2"/>
                </a:solidFill>
              </a:rPr>
              <a:pPr algn="r"/>
              <a:t>‹#›</a:t>
            </a:fld>
            <a:endParaRPr lang="de-DE" sz="1200" b="0">
              <a:solidFill>
                <a:schemeClr val="bg2"/>
              </a:solidFill>
            </a:endParaRPr>
          </a:p>
        </p:txBody>
      </p:sp>
      <p:pic>
        <p:nvPicPr>
          <p:cNvPr id="12" name="Grafik 11"/>
          <p:cNvPicPr>
            <a:picLocks noChangeAspect="1"/>
          </p:cNvPicPr>
          <p:nvPr/>
        </p:nvPicPr>
        <p:blipFill>
          <a:blip r:embed="rId12"/>
          <a:stretch>
            <a:fillRect/>
          </a:stretch>
        </p:blipFill>
        <p:spPr>
          <a:xfrm>
            <a:off x="1" y="5191223"/>
            <a:ext cx="1777589" cy="234900"/>
          </a:xfrm>
          <a:prstGeom prst="rect">
            <a:avLst/>
          </a:prstGeom>
        </p:spPr>
      </p:pic>
      <p:pic>
        <p:nvPicPr>
          <p:cNvPr id="13" name="Grafik 12"/>
          <p:cNvPicPr>
            <a:picLocks noChangeAspect="1"/>
          </p:cNvPicPr>
          <p:nvPr/>
        </p:nvPicPr>
        <p:blipFill>
          <a:blip r:embed="rId13"/>
          <a:stretch>
            <a:fillRect/>
          </a:stretch>
        </p:blipFill>
        <p:spPr>
          <a:xfrm>
            <a:off x="1832767" y="5191223"/>
            <a:ext cx="1777589" cy="234900"/>
          </a:xfrm>
          <a:prstGeom prst="rect">
            <a:avLst/>
          </a:prstGeom>
        </p:spPr>
      </p:pic>
      <p:pic>
        <p:nvPicPr>
          <p:cNvPr id="15" name="Grafik 14"/>
          <p:cNvPicPr>
            <a:picLocks noChangeAspect="1"/>
          </p:cNvPicPr>
          <p:nvPr/>
        </p:nvPicPr>
        <p:blipFill>
          <a:blip r:embed="rId14"/>
          <a:stretch>
            <a:fillRect/>
          </a:stretch>
        </p:blipFill>
        <p:spPr>
          <a:xfrm>
            <a:off x="3665534" y="5191223"/>
            <a:ext cx="1777581" cy="234900"/>
          </a:xfrm>
          <a:prstGeom prst="rect">
            <a:avLst/>
          </a:prstGeom>
        </p:spPr>
      </p:pic>
      <p:pic>
        <p:nvPicPr>
          <p:cNvPr id="16" name="Grafik 15"/>
          <p:cNvPicPr>
            <a:picLocks noChangeAspect="1"/>
          </p:cNvPicPr>
          <p:nvPr/>
        </p:nvPicPr>
        <p:blipFill>
          <a:blip r:embed="rId15"/>
          <a:stretch>
            <a:fillRect/>
          </a:stretch>
        </p:blipFill>
        <p:spPr>
          <a:xfrm>
            <a:off x="5518933" y="5191223"/>
            <a:ext cx="1777589" cy="234900"/>
          </a:xfrm>
          <a:prstGeom prst="rect">
            <a:avLst/>
          </a:prstGeom>
        </p:spPr>
      </p:pic>
      <p:pic>
        <p:nvPicPr>
          <p:cNvPr id="17" name="Grafik 16"/>
          <p:cNvPicPr>
            <a:picLocks noChangeAspect="1"/>
          </p:cNvPicPr>
          <p:nvPr/>
        </p:nvPicPr>
        <p:blipFill>
          <a:blip r:embed="rId16"/>
          <a:stretch>
            <a:fillRect/>
          </a:stretch>
        </p:blipFill>
        <p:spPr>
          <a:xfrm>
            <a:off x="7377962" y="5191223"/>
            <a:ext cx="1759433" cy="234900"/>
          </a:xfrm>
          <a:prstGeom prst="rect">
            <a:avLst/>
          </a:prstGeom>
        </p:spPr>
      </p:pic>
      <p:sp>
        <p:nvSpPr>
          <p:cNvPr id="14" name="Rectangle 25"/>
          <p:cNvSpPr>
            <a:spLocks noChangeArrowheads="1"/>
          </p:cNvSpPr>
          <p:nvPr/>
        </p:nvSpPr>
        <p:spPr bwMode="auto">
          <a:xfrm>
            <a:off x="0" y="4938406"/>
            <a:ext cx="9114078" cy="173519"/>
          </a:xfrm>
          <a:prstGeom prst="rect">
            <a:avLst/>
          </a:prstGeom>
          <a:noFill/>
          <a:ln w="9525">
            <a:noFill/>
            <a:miter lim="800000"/>
            <a:headEnd/>
            <a:tailEnd/>
          </a:ln>
          <a:effectLst/>
        </p:spPr>
        <p:txBody>
          <a:bodyPr wrap="none" lIns="92075" tIns="46038" rIns="92075" bIns="46038" anchor="ctr"/>
          <a:lstStyle/>
          <a:p>
            <a:pPr algn="ctr"/>
            <a:r>
              <a:rPr lang="en-US" sz="1200" b="0" i="1" dirty="0">
                <a:latin typeface="+mn-lt"/>
              </a:rPr>
              <a:t>ictu.edu.vn</a:t>
            </a: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7" r:id="rId5"/>
    <p:sldLayoutId id="2147483663" r:id="rId6"/>
    <p:sldLayoutId id="2147483658" r:id="rId7"/>
    <p:sldLayoutId id="2147483659" r:id="rId8"/>
    <p:sldLayoutId id="2147483660" r:id="rId9"/>
  </p:sldLayoutIdLst>
  <p:txStyles>
    <p:titleStyle>
      <a:lvl1pPr algn="ctr" rtl="0" eaLnBrk="1" fontAlgn="base" hangingPunct="1">
        <a:spcBef>
          <a:spcPct val="0"/>
        </a:spcBef>
        <a:spcAft>
          <a:spcPct val="0"/>
        </a:spcAft>
        <a:defRPr sz="2600" b="1">
          <a:solidFill>
            <a:srgbClr val="063D79"/>
          </a:solidFill>
          <a:latin typeface="+mj-lt"/>
          <a:ea typeface="+mj-ea"/>
          <a:cs typeface="+mj-cs"/>
        </a:defRPr>
      </a:lvl1pPr>
      <a:lvl2pPr algn="ctr" rtl="0" eaLnBrk="1" fontAlgn="base" hangingPunct="1">
        <a:spcBef>
          <a:spcPct val="0"/>
        </a:spcBef>
        <a:spcAft>
          <a:spcPct val="0"/>
        </a:spcAft>
        <a:defRPr sz="2600" b="1">
          <a:solidFill>
            <a:srgbClr val="063D79"/>
          </a:solidFill>
          <a:latin typeface="Arial" charset="0"/>
        </a:defRPr>
      </a:lvl2pPr>
      <a:lvl3pPr algn="ctr" rtl="0" eaLnBrk="1" fontAlgn="base" hangingPunct="1">
        <a:spcBef>
          <a:spcPct val="0"/>
        </a:spcBef>
        <a:spcAft>
          <a:spcPct val="0"/>
        </a:spcAft>
        <a:defRPr sz="2600" b="1">
          <a:solidFill>
            <a:srgbClr val="063D79"/>
          </a:solidFill>
          <a:latin typeface="Arial" charset="0"/>
        </a:defRPr>
      </a:lvl3pPr>
      <a:lvl4pPr algn="ctr" rtl="0" eaLnBrk="1" fontAlgn="base" hangingPunct="1">
        <a:spcBef>
          <a:spcPct val="0"/>
        </a:spcBef>
        <a:spcAft>
          <a:spcPct val="0"/>
        </a:spcAft>
        <a:defRPr sz="2600" b="1">
          <a:solidFill>
            <a:srgbClr val="063D79"/>
          </a:solidFill>
          <a:latin typeface="Arial" charset="0"/>
        </a:defRPr>
      </a:lvl4pPr>
      <a:lvl5pPr algn="ctr" rtl="0" eaLnBrk="1" fontAlgn="base" hangingPunct="1">
        <a:spcBef>
          <a:spcPct val="0"/>
        </a:spcBef>
        <a:spcAft>
          <a:spcPct val="0"/>
        </a:spcAft>
        <a:defRPr sz="2600" b="1">
          <a:solidFill>
            <a:srgbClr val="063D79"/>
          </a:solidFill>
          <a:latin typeface="Arial" charset="0"/>
        </a:defRPr>
      </a:lvl5pPr>
      <a:lvl6pPr marL="457200" algn="ctr" rtl="0" eaLnBrk="1" fontAlgn="base" hangingPunct="1">
        <a:spcBef>
          <a:spcPct val="0"/>
        </a:spcBef>
        <a:spcAft>
          <a:spcPct val="0"/>
        </a:spcAft>
        <a:defRPr sz="2600" b="1">
          <a:solidFill>
            <a:srgbClr val="063D79"/>
          </a:solidFill>
          <a:latin typeface="Arial" charset="0"/>
        </a:defRPr>
      </a:lvl6pPr>
      <a:lvl7pPr marL="914400" algn="ctr" rtl="0" eaLnBrk="1" fontAlgn="base" hangingPunct="1">
        <a:spcBef>
          <a:spcPct val="0"/>
        </a:spcBef>
        <a:spcAft>
          <a:spcPct val="0"/>
        </a:spcAft>
        <a:defRPr sz="2600" b="1">
          <a:solidFill>
            <a:srgbClr val="063D79"/>
          </a:solidFill>
          <a:latin typeface="Arial" charset="0"/>
        </a:defRPr>
      </a:lvl7pPr>
      <a:lvl8pPr marL="1371600" algn="ctr" rtl="0" eaLnBrk="1" fontAlgn="base" hangingPunct="1">
        <a:spcBef>
          <a:spcPct val="0"/>
        </a:spcBef>
        <a:spcAft>
          <a:spcPct val="0"/>
        </a:spcAft>
        <a:defRPr sz="2600" b="1">
          <a:solidFill>
            <a:srgbClr val="063D79"/>
          </a:solidFill>
          <a:latin typeface="Arial" charset="0"/>
        </a:defRPr>
      </a:lvl8pPr>
      <a:lvl9pPr marL="1828800" algn="ctr" rtl="0" eaLnBrk="1" fontAlgn="base" hangingPunct="1">
        <a:spcBef>
          <a:spcPct val="0"/>
        </a:spcBef>
        <a:spcAft>
          <a:spcPct val="0"/>
        </a:spcAft>
        <a:defRPr sz="2600" b="1">
          <a:solidFill>
            <a:srgbClr val="063D79"/>
          </a:solidFill>
          <a:latin typeface="Arial" charset="0"/>
        </a:defRPr>
      </a:lvl9pPr>
    </p:titleStyle>
    <p:bodyStyle>
      <a:lvl1pPr marL="342900" indent="-342900" algn="l" rtl="0" eaLnBrk="1" fontAlgn="base" hangingPunct="1">
        <a:spcBef>
          <a:spcPct val="20000"/>
        </a:spcBef>
        <a:spcAft>
          <a:spcPct val="0"/>
        </a:spcAft>
        <a:buClr>
          <a:srgbClr val="063D79"/>
        </a:buClr>
        <a:buSzPct val="80000"/>
        <a:buFont typeface="Wingdings 3" pitchFamily="18" charset="2"/>
        <a:buChar char="u"/>
        <a:defRPr sz="2000">
          <a:solidFill>
            <a:srgbClr val="4D4D4D"/>
          </a:solidFill>
          <a:latin typeface="+mn-lt"/>
          <a:ea typeface="+mn-ea"/>
          <a:cs typeface="+mn-cs"/>
        </a:defRPr>
      </a:lvl1pPr>
      <a:lvl2pPr marL="742950" indent="-285750" algn="l" rtl="0" eaLnBrk="1" fontAlgn="base" hangingPunct="1">
        <a:spcBef>
          <a:spcPct val="20000"/>
        </a:spcBef>
        <a:spcAft>
          <a:spcPct val="0"/>
        </a:spcAft>
        <a:buClr>
          <a:srgbClr val="063D79"/>
        </a:buClr>
        <a:buSzPct val="100000"/>
        <a:buFont typeface="Wingdings" pitchFamily="2" charset="2"/>
        <a:buChar char="§"/>
        <a:defRPr sz="1800">
          <a:solidFill>
            <a:srgbClr val="4D4D4D"/>
          </a:solidFill>
          <a:latin typeface="+mn-lt"/>
        </a:defRPr>
      </a:lvl2pPr>
      <a:lvl3pPr marL="1143000" indent="-228600" algn="l" rtl="0" eaLnBrk="1" fontAlgn="base" hangingPunct="1">
        <a:spcBef>
          <a:spcPct val="20000"/>
        </a:spcBef>
        <a:spcAft>
          <a:spcPct val="0"/>
        </a:spcAft>
        <a:buClr>
          <a:srgbClr val="063D79"/>
        </a:buClr>
        <a:buChar char="–"/>
        <a:defRPr sz="1600" baseline="0">
          <a:solidFill>
            <a:srgbClr val="4D4D4D"/>
          </a:solidFill>
          <a:latin typeface="+mn-lt"/>
        </a:defRPr>
      </a:lvl3pPr>
      <a:lvl4pPr marL="1562100" indent="-228600" algn="l" rtl="0" eaLnBrk="1" fontAlgn="base" hangingPunct="1">
        <a:spcBef>
          <a:spcPct val="20000"/>
        </a:spcBef>
        <a:spcAft>
          <a:spcPct val="0"/>
        </a:spcAft>
        <a:buClr>
          <a:srgbClr val="063D79"/>
        </a:buClr>
        <a:buChar char="•"/>
        <a:defRPr sz="1600" baseline="0">
          <a:solidFill>
            <a:srgbClr val="4D4D4D"/>
          </a:solidFill>
          <a:latin typeface="+mn-lt"/>
        </a:defRPr>
      </a:lvl4pPr>
      <a:lvl5pPr marL="1981200" indent="-228600" algn="l" rtl="0" eaLnBrk="1" fontAlgn="base" hangingPunct="1">
        <a:spcBef>
          <a:spcPct val="20000"/>
        </a:spcBef>
        <a:spcAft>
          <a:spcPct val="0"/>
        </a:spcAft>
        <a:buClr>
          <a:srgbClr val="063D79"/>
        </a:buClr>
        <a:buChar char=" "/>
        <a:defRPr sz="1600">
          <a:solidFill>
            <a:srgbClr val="4D4D4D"/>
          </a:solidFill>
          <a:latin typeface="+mn-lt"/>
        </a:defRPr>
      </a:lvl5pPr>
      <a:lvl6pPr marL="2438400" indent="-228600" algn="l" rtl="0" eaLnBrk="1" fontAlgn="base" hangingPunct="1">
        <a:spcBef>
          <a:spcPct val="20000"/>
        </a:spcBef>
        <a:spcAft>
          <a:spcPct val="0"/>
        </a:spcAft>
        <a:buChar char=" "/>
        <a:defRPr sz="2000">
          <a:solidFill>
            <a:srgbClr val="4D4D4D"/>
          </a:solidFill>
          <a:latin typeface="+mn-lt"/>
        </a:defRPr>
      </a:lvl6pPr>
      <a:lvl7pPr marL="2895600" indent="-228600" algn="l" rtl="0" eaLnBrk="1" fontAlgn="base" hangingPunct="1">
        <a:spcBef>
          <a:spcPct val="20000"/>
        </a:spcBef>
        <a:spcAft>
          <a:spcPct val="0"/>
        </a:spcAft>
        <a:buChar char=" "/>
        <a:defRPr sz="2000">
          <a:solidFill>
            <a:srgbClr val="4D4D4D"/>
          </a:solidFill>
          <a:latin typeface="+mn-lt"/>
        </a:defRPr>
      </a:lvl7pPr>
      <a:lvl8pPr marL="3352800" indent="-228600" algn="l" rtl="0" eaLnBrk="1" fontAlgn="base" hangingPunct="1">
        <a:spcBef>
          <a:spcPct val="20000"/>
        </a:spcBef>
        <a:spcAft>
          <a:spcPct val="0"/>
        </a:spcAft>
        <a:buChar char=" "/>
        <a:defRPr sz="2000">
          <a:solidFill>
            <a:srgbClr val="4D4D4D"/>
          </a:solidFill>
          <a:latin typeface="+mn-lt"/>
        </a:defRPr>
      </a:lvl8pPr>
      <a:lvl9pPr marL="3810000" indent="-228600" algn="l" rtl="0" eaLnBrk="1" fontAlgn="base" hangingPunct="1">
        <a:spcBef>
          <a:spcPct val="20000"/>
        </a:spcBef>
        <a:spcAft>
          <a:spcPct val="0"/>
        </a:spcAft>
        <a:buChar char=" "/>
        <a:defRPr sz="2000">
          <a:solidFill>
            <a:srgbClr val="4D4D4D"/>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C62EF-0DDE-ADF7-9F04-ACF128FF9FB1}"/>
              </a:ext>
            </a:extLst>
          </p:cNvPr>
          <p:cNvSpPr>
            <a:spLocks noGrp="1"/>
          </p:cNvSpPr>
          <p:nvPr>
            <p:ph type="ctrTitle" sz="quarter"/>
          </p:nvPr>
        </p:nvSpPr>
        <p:spPr/>
        <p:txBody>
          <a:bodyPr/>
          <a:lstStyle/>
          <a:p>
            <a:pPr algn="ctr">
              <a:defRPr sz="2000" b="1">
                <a:solidFill>
                  <a:srgbClr val="0E387A"/>
                </a:solidFill>
                <a:latin typeface="Arial"/>
              </a:defRPr>
            </a:pPr>
            <a:r>
              <a:t>PETCARE AI - HỆ THỐNG QUẢN LÝ PHÒNG KHÁM</a:t>
            </a:r>
          </a:p>
          <a:p>
            <a:pPr algn="ctr">
              <a:defRPr sz="2000" b="1">
                <a:solidFill>
                  <a:srgbClr val="0E387A"/>
                </a:solidFill>
                <a:latin typeface="Arial"/>
              </a:defRPr>
            </a:pPr>
            <a:r>
              <a:t>&amp; TRỢ LÝ AI CHĂM SÓC THÚ CƯNG TOÀN DIỆN</a:t>
            </a:r>
          </a:p>
        </p:txBody>
      </p:sp>
      <p:sp>
        <p:nvSpPr>
          <p:cNvPr id="3" name="Subtitle 2">
            <a:extLst>
              <a:ext uri="{FF2B5EF4-FFF2-40B4-BE49-F238E27FC236}">
                <a16:creationId xmlns:a16="http://schemas.microsoft.com/office/drawing/2014/main" id="{1DAC1011-8220-8CB5-0EB7-642DC31B1393}"/>
              </a:ext>
            </a:extLst>
          </p:cNvPr>
          <p:cNvSpPr>
            <a:spLocks noGrp="1"/>
          </p:cNvSpPr>
          <p:nvPr>
            <p:ph type="subTitle" sz="quarter" idx="1"/>
          </p:nvPr>
        </p:nvSpPr>
        <p:spPr/>
        <p:txBody>
          <a:bodyPr/>
          <a:lstStyle/>
          <a:p>
            <a:pPr algn="ctr">
              <a:defRPr sz="1200" b="0">
                <a:solidFill>
                  <a:srgbClr val="1E293B"/>
                </a:solidFill>
                <a:latin typeface="Arial"/>
              </a:defRPr>
            </a:pPr>
            <a:r>
              <a:t>HỌC PHẦN: PHÁT TRIỂN ỨNG DỤNG AI</a:t>
            </a:r>
          </a:p>
          <a:p>
            <a:pPr algn="ctr">
              <a:defRPr sz="1200" b="0">
                <a:solidFill>
                  <a:srgbClr val="1E293B"/>
                </a:solidFill>
                <a:latin typeface="Arial"/>
              </a:defRPr>
            </a:pPr>
            <a:r>
              <a:t>GVHD: TS. Trần Quang Quý | SVTH: Nhóm Đồ Án Chuyên Ngành</a:t>
            </a:r>
          </a:p>
          <a:p>
            <a:pPr algn="ctr">
              <a:defRPr sz="1200" b="0">
                <a:solidFill>
                  <a:srgbClr val="1E293B"/>
                </a:solidFill>
                <a:latin typeface="Arial"/>
              </a:defRPr>
            </a:pPr>
            <a:r>
              <a:t>Khoa Công nghệ Thông tin - Đại học CNTT &amp; Truyền thông (ICTU) - 2026</a:t>
            </a:r>
          </a:p>
        </p:txBody>
      </p:sp>
    </p:spTree>
    <p:extLst>
      <p:ext uri="{BB962C8B-B14F-4D97-AF65-F5344CB8AC3E}">
        <p14:creationId xmlns:p14="http://schemas.microsoft.com/office/powerpoint/2010/main" val="1849589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6954B-2E09-66B5-1C03-ACF3529A7A9C}"/>
              </a:ext>
            </a:extLst>
          </p:cNvPr>
          <p:cNvSpPr>
            <a:spLocks noGrp="1"/>
          </p:cNvSpPr>
          <p:nvPr>
            <p:ph type="title"/>
          </p:nvPr>
        </p:nvSpPr>
        <p:spPr/>
        <p:txBody>
          <a:bodyPr/>
          <a:lstStyle/>
          <a:p>
            <a:pPr algn="l">
              <a:defRPr sz="1800" b="1">
                <a:solidFill>
                  <a:srgbClr val="0E387A"/>
                </a:solidFill>
                <a:latin typeface="Arial"/>
              </a:defRPr>
            </a:pPr>
            <a:r>
              <a:t>1. Bối cảnh &amp; Tính cấp thiết của Đề tài</a:t>
            </a:r>
          </a:p>
        </p:txBody>
      </p:sp>
      <p:sp>
        <p:nvSpPr>
          <p:cNvPr id="3" name="Rounded Rectangle 2"/>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Thực trạng ngành Thú cưng &amp; Y tế Thú y</a:t>
            </a:r>
          </a:p>
          <a:p>
            <a:pPr algn="l">
              <a:spcAft>
                <a:spcPts val="400"/>
              </a:spcAft>
              <a:defRPr sz="1050" b="0">
                <a:solidFill>
                  <a:srgbClr val="1E293B"/>
                </a:solidFill>
                <a:latin typeface="Arial"/>
              </a:defRPr>
            </a:pPr>
            <a:r>
              <a:t>•  Tăng trưởng thị trường: Tỷ lệ nuôi thú cưng tại Việt Nam tăng &gt;15%/năm.</a:t>
            </a:r>
          </a:p>
          <a:p>
            <a:pPr algn="l">
              <a:spcAft>
                <a:spcPts val="400"/>
              </a:spcAft>
              <a:defRPr sz="1050" b="0">
                <a:solidFill>
                  <a:srgbClr val="1E293B"/>
                </a:solidFill>
                <a:latin typeface="Arial"/>
              </a:defRPr>
            </a:pPr>
            <a:r>
              <a:t>•  Nhu cầu y tế bùng nổ: Gia tăng mạnh nhu cầu phòng dịch, tiêm phòng và điều trị bệnh.</a:t>
            </a:r>
          </a:p>
          <a:p>
            <a:pPr algn="l">
              <a:spcAft>
                <a:spcPts val="400"/>
              </a:spcAft>
              <a:defRPr sz="1050" b="0">
                <a:solidFill>
                  <a:srgbClr val="1E293B"/>
                </a:solidFill>
                <a:latin typeface="Arial"/>
              </a:defRPr>
            </a:pPr>
            <a:r>
              <a:t>•  Khoảng trống kiến thức: Chủ nuôi thường lúng túng khi xử lý sơ cứu ngộ độc, sốc nhiệt.</a:t>
            </a:r>
          </a:p>
          <a:p>
            <a:pPr algn="l">
              <a:spcAft>
                <a:spcPts val="400"/>
              </a:spcAft>
              <a:defRPr sz="1050" b="0">
                <a:solidFill>
                  <a:srgbClr val="1E293B"/>
                </a:solidFill>
                <a:latin typeface="Arial"/>
              </a:defRPr>
            </a:pPr>
            <a:r>
              <a:t>•  Hiện trạng phòng khám: Đa số cơ sở vừa và nhỏ vẫn ghi sổ tay hoặc dùng file Excel phân mảnh.</a:t>
            </a:r>
          </a:p>
        </p:txBody>
      </p:sp>
      <p:sp>
        <p:nvSpPr>
          <p:cNvPr id="4" name="Rounded Rectangle 3"/>
          <p:cNvSpPr/>
          <p:nvPr/>
        </p:nvSpPr>
        <p:spPr>
          <a:xfrm>
            <a:off x="4663440" y="1005840"/>
            <a:ext cx="3931920" cy="3108960"/>
          </a:xfrm>
          <a:prstGeom prst="roundRect">
            <a:avLst/>
          </a:prstGeom>
          <a:solidFill>
            <a:srgbClr val="F8FAFC"/>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DC2626"/>
                </a:solidFill>
                <a:latin typeface="Arial"/>
              </a:defRPr>
            </a:pPr>
            <a:r>
              <a:t>4 Điểm nghẽn Cốt lõi cần Giải quyết</a:t>
            </a:r>
          </a:p>
          <a:p>
            <a:pPr algn="l">
              <a:spcAft>
                <a:spcPts val="400"/>
              </a:spcAft>
              <a:defRPr sz="1050" b="0">
                <a:solidFill>
                  <a:srgbClr val="1E293B"/>
                </a:solidFill>
                <a:latin typeface="Arial"/>
              </a:defRPr>
            </a:pPr>
            <a:r>
              <a:t>•  Quá tải tư vấn: Đội ngũ y tế mất nhiều thời gian trả lời câu hỏi lặp lại.</a:t>
            </a:r>
          </a:p>
          <a:p>
            <a:pPr algn="l">
              <a:spcAft>
                <a:spcPts val="400"/>
              </a:spcAft>
              <a:defRPr sz="1050" b="0">
                <a:solidFill>
                  <a:srgbClr val="1E293B"/>
                </a:solidFill>
                <a:latin typeface="Arial"/>
              </a:defRPr>
            </a:pPr>
            <a:r>
              <a:t>•  Bệnh án phân tán: Thiếu lịch sử tiêm phòng, dị ứng thuốc khi đổi ca trực.</a:t>
            </a:r>
          </a:p>
          <a:p>
            <a:pPr algn="l">
              <a:spcAft>
                <a:spcPts val="400"/>
              </a:spcAft>
              <a:defRPr sz="1050" b="0">
                <a:solidFill>
                  <a:srgbClr val="1E293B"/>
                </a:solidFill>
                <a:latin typeface="Arial"/>
              </a:defRPr>
            </a:pPr>
            <a:r>
              <a:t>•  Cấp cứu chậm trễ: Thiếu công cụ phân luồng khẩn cấp 24/7 ngoài giờ hành chính.</a:t>
            </a:r>
          </a:p>
          <a:p>
            <a:pPr algn="l">
              <a:spcAft>
                <a:spcPts val="400"/>
              </a:spcAft>
              <a:defRPr sz="1050" b="0">
                <a:solidFill>
                  <a:srgbClr val="1E293B"/>
                </a:solidFill>
                <a:latin typeface="Arial"/>
              </a:defRPr>
            </a:pPr>
            <a:r>
              <a:t>•  Nhu cầu cấp thiết: Cần một nền tảng chuyển đổi số toàn diện tích hợp Trợ lý AI có kiểm duyệt y khoa.</a:t>
            </a:r>
          </a:p>
        </p:txBody>
      </p:sp>
    </p:spTree>
    <p:extLst>
      <p:ext uri="{BB962C8B-B14F-4D97-AF65-F5344CB8AC3E}">
        <p14:creationId xmlns:p14="http://schemas.microsoft.com/office/powerpoint/2010/main" val="309051870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2. Mục tiêu &amp; Phạm vi Nghiên cứu</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XÂY DỰNG HỆ SINH THÁI QUẢN LÝ &amp; TRỢ LÝ CHUYÊN KHOA</a:t>
            </a:r>
          </a:p>
        </p:txBody>
      </p:sp>
      <p:sp>
        <p:nvSpPr>
          <p:cNvPr id="4" name="Rounded Rectangle 3"/>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D9488"/>
                </a:solidFill>
                <a:latin typeface="Arial"/>
              </a:defRPr>
            </a:pPr>
            <a:r>
              <a:t>4 Mục tiêu Nghiên cứu Cụ thể</a:t>
            </a:r>
          </a:p>
          <a:p>
            <a:pPr algn="l">
              <a:spcAft>
                <a:spcPts val="400"/>
              </a:spcAft>
              <a:defRPr sz="1050" b="0">
                <a:solidFill>
                  <a:srgbClr val="1E293B"/>
                </a:solidFill>
                <a:latin typeface="Arial"/>
              </a:defRPr>
            </a:pPr>
            <a:r>
              <a:t>•  Mục tiêu 1: Xây dựng Trợ lý AI tư vấn sức khỏe thú cưng 24/7 (Độ trễ &lt;650ms).</a:t>
            </a:r>
          </a:p>
          <a:p>
            <a:pPr algn="l">
              <a:spcAft>
                <a:spcPts val="400"/>
              </a:spcAft>
              <a:defRPr sz="1050" b="0">
                <a:solidFill>
                  <a:srgbClr val="1E293B"/>
                </a:solidFill>
                <a:latin typeface="Arial"/>
              </a:defRPr>
            </a:pPr>
            <a:r>
              <a:t>•  Mục tiêu 2: Số hóa toàn diện hồ sơ bệnh án điện tử (EMR) chuẩn phòng khám.</a:t>
            </a:r>
          </a:p>
          <a:p>
            <a:pPr algn="l">
              <a:spcAft>
                <a:spcPts val="400"/>
              </a:spcAft>
              <a:defRPr sz="1050" b="0">
                <a:solidFill>
                  <a:srgbClr val="1E293B"/>
                </a:solidFill>
                <a:latin typeface="Arial"/>
              </a:defRPr>
            </a:pPr>
            <a:r>
              <a:t>•  Mục tiêu 3: Tối ưu quy trình vận hành (Lễ tân, Điều dưỡng, Telehealth, VietQR).</a:t>
            </a:r>
          </a:p>
          <a:p>
            <a:pPr algn="l">
              <a:spcAft>
                <a:spcPts val="400"/>
              </a:spcAft>
              <a:defRPr sz="1050" b="0">
                <a:solidFill>
                  <a:srgbClr val="1E293B"/>
                </a:solidFill>
                <a:latin typeface="Arial"/>
              </a:defRPr>
            </a:pPr>
            <a:r>
              <a:t>•  Mục tiêu 4: Thiết lập Khung an toàn y khoa 3 chốt chặn, loại bỏ nguy cơ ảo giác.</a:t>
            </a:r>
          </a:p>
        </p:txBody>
      </p:sp>
      <p:sp>
        <p:nvSpPr>
          <p:cNvPr id="5" name="Rounded Rectangle 4"/>
          <p:cNvSpPr/>
          <p:nvPr/>
        </p:nvSpPr>
        <p:spPr>
          <a:xfrm>
            <a:off x="46634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Phạm vi &amp; Ranh giới An toàn Y tế</a:t>
            </a:r>
          </a:p>
          <a:p>
            <a:pPr algn="l">
              <a:spcAft>
                <a:spcPts val="400"/>
              </a:spcAft>
              <a:defRPr sz="1050" b="0">
                <a:solidFill>
                  <a:srgbClr val="1E293B"/>
                </a:solidFill>
                <a:latin typeface="Arial"/>
              </a:defRPr>
            </a:pPr>
            <a:r>
              <a:t>•  Đối tượng phục vụ: Chó, Mèo và các loài thú cưng phổ biến tại đô thị.</a:t>
            </a:r>
          </a:p>
          <a:p>
            <a:pPr algn="l">
              <a:spcAft>
                <a:spcPts val="400"/>
              </a:spcAft>
              <a:defRPr sz="1050" b="0">
                <a:solidFill>
                  <a:srgbClr val="1E293B"/>
                </a:solidFill>
                <a:latin typeface="Arial"/>
              </a:defRPr>
            </a:pPr>
            <a:r>
              <a:t>•  Vai trò của AI: Tư vấn triệu chứng, phân luồng cấp cứu, giải thích bệnh án.</a:t>
            </a:r>
          </a:p>
          <a:p>
            <a:pPr algn="l">
              <a:spcAft>
                <a:spcPts val="400"/>
              </a:spcAft>
              <a:defRPr sz="1050" b="0">
                <a:solidFill>
                  <a:srgbClr val="1E293B"/>
                </a:solidFill>
                <a:latin typeface="Arial"/>
              </a:defRPr>
            </a:pPr>
            <a:r>
              <a:t>•  Nguyên tắc 1: AI TUYỆT ĐỐI KHÔNG thay thế chẩn đoán chuyên sâu của Bác sĩ.</a:t>
            </a:r>
          </a:p>
          <a:p>
            <a:pPr algn="l">
              <a:spcAft>
                <a:spcPts val="400"/>
              </a:spcAft>
              <a:defRPr sz="1050" b="0">
                <a:solidFill>
                  <a:srgbClr val="1E293B"/>
                </a:solidFill>
                <a:latin typeface="Arial"/>
              </a:defRPr>
            </a:pPr>
            <a:r>
              <a:t>•  Nguyên tắc 2: AI TUYỆT ĐỐI KHÔNG tự kê đơn hoạt chất đặc trị liều lượng cao.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3. Cơ sở Lý thuyết: Transformer &amp; Fine-Tuning</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NỀN TẢNG CÔNG NGHỆ TRÍ TUỆ NHÂN TẠO HIỆN ĐẠI</a:t>
            </a:r>
          </a:p>
        </p:txBody>
      </p:sp>
      <p:sp>
        <p:nvSpPr>
          <p:cNvPr id="4" name="Rounded Rectangle 3"/>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Kiến trúc Transformer &amp; Mô hình LLM</a:t>
            </a:r>
          </a:p>
          <a:p>
            <a:pPr algn="l">
              <a:spcAft>
                <a:spcPts val="400"/>
              </a:spcAft>
              <a:defRPr sz="1050" b="0">
                <a:solidFill>
                  <a:srgbClr val="1E293B"/>
                </a:solidFill>
                <a:latin typeface="Arial"/>
              </a:defRPr>
            </a:pPr>
            <a:r>
              <a:t>•  Cơ chế Multi-Head Self-Attention: Mô hình hóa mối quan hệ từ vựng và ngữ cảnh sâu.</a:t>
            </a:r>
          </a:p>
          <a:p>
            <a:pPr algn="l">
              <a:spcAft>
                <a:spcPts val="400"/>
              </a:spcAft>
              <a:defRPr sz="1050" b="0">
                <a:solidFill>
                  <a:srgbClr val="1E293B"/>
                </a:solidFill>
                <a:latin typeface="Arial"/>
              </a:defRPr>
            </a:pPr>
            <a:r>
              <a:t>•  Lựa chọn Model: Google Gemini 2.5/3.8 Flash, GPT-4o-mini và Ollama Llama-3.</a:t>
            </a:r>
          </a:p>
          <a:p>
            <a:pPr algn="l">
              <a:spcAft>
                <a:spcPts val="400"/>
              </a:spcAft>
              <a:defRPr sz="1050" b="0">
                <a:solidFill>
                  <a:srgbClr val="1E293B"/>
                </a:solidFill>
                <a:latin typeface="Arial"/>
              </a:defRPr>
            </a:pPr>
            <a:r>
              <a:t>•  Khả năng suy luận: Tận dụng Reasoning và In-context Learning để giải thích bệnh học.</a:t>
            </a:r>
          </a:p>
          <a:p>
            <a:pPr algn="l">
              <a:spcAft>
                <a:spcPts val="400"/>
              </a:spcAft>
              <a:defRPr sz="1050" b="0">
                <a:solidFill>
                  <a:srgbClr val="1E293B"/>
                </a:solidFill>
                <a:latin typeface="Arial"/>
              </a:defRPr>
            </a:pPr>
            <a:r>
              <a:t>•  Multimodal Vision: Đọc hiểu và trích xuất dữ liệu từ ảnh chụp sổ tiêm qua OCR.</a:t>
            </a:r>
          </a:p>
        </p:txBody>
      </p:sp>
      <p:sp>
        <p:nvSpPr>
          <p:cNvPr id="5" name="Rounded Rectangle 4"/>
          <p:cNvSpPr/>
          <p:nvPr/>
        </p:nvSpPr>
        <p:spPr>
          <a:xfrm>
            <a:off x="46634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D9488"/>
                </a:solidFill>
                <a:latin typeface="Arial"/>
              </a:defRPr>
            </a:pPr>
            <a:r>
              <a:t>Kỹ thuật SFT &amp; Tinh chỉnh Ngữ cảnh</a:t>
            </a:r>
          </a:p>
          <a:p>
            <a:pPr algn="l">
              <a:spcAft>
                <a:spcPts val="400"/>
              </a:spcAft>
              <a:defRPr sz="1050" b="0">
                <a:solidFill>
                  <a:srgbClr val="1E293B"/>
                </a:solidFill>
                <a:latin typeface="Arial"/>
              </a:defRPr>
            </a:pPr>
            <a:r>
              <a:t>•  System Prompt Engineering: Định hình persona Bác sĩ Thú y chuẩn mực, từ tốn.</a:t>
            </a:r>
          </a:p>
          <a:p>
            <a:pPr algn="l">
              <a:spcAft>
                <a:spcPts val="400"/>
              </a:spcAft>
              <a:defRPr sz="1050" b="0">
                <a:solidFill>
                  <a:srgbClr val="1E293B"/>
                </a:solidFill>
                <a:latin typeface="Arial"/>
              </a:defRPr>
            </a:pPr>
            <a:r>
              <a:t>•  Dynamic Context Injection: Tự động nhúng Giống loài, Tuổi, Cân nặng vào câu hỏi.</a:t>
            </a:r>
          </a:p>
          <a:p>
            <a:pPr algn="l">
              <a:spcAft>
                <a:spcPts val="400"/>
              </a:spcAft>
              <a:defRPr sz="1050" b="0">
                <a:solidFill>
                  <a:srgbClr val="1E293B"/>
                </a:solidFill>
                <a:latin typeface="Arial"/>
              </a:defRPr>
            </a:pPr>
            <a:r>
              <a:t>•  Clinical Guardrails: Kiểm duyệt đầu vào / đầu ra theo 6 tiêu chuẩn an toàn thú y.</a:t>
            </a:r>
          </a:p>
          <a:p>
            <a:pPr algn="l">
              <a:spcAft>
                <a:spcPts val="400"/>
              </a:spcAft>
              <a:defRPr sz="1050" b="0">
                <a:solidFill>
                  <a:srgbClr val="1E293B"/>
                </a:solidFill>
                <a:latin typeface="Arial"/>
              </a:defRPr>
            </a:pPr>
            <a:r>
              <a:t>•  Cơ chế chuyển đổi (Failover): Tự động chuyển đổi giữa Cloud AI và Local AI an toàn.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4. Khung An toàn Y khoa 3 Chốt chặn (Clinical Guardrails)</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ĐẢM BẢO CHUẨN MỰC ĐẠO ĐỨC &amp; AN TOÀN SỨC KHỎE THÚ CƯNG</a:t>
            </a:r>
          </a:p>
        </p:txBody>
      </p:sp>
      <p:sp>
        <p:nvSpPr>
          <p:cNvPr id="4" name="Rounded Rectangle 3"/>
          <p:cNvSpPr/>
          <p:nvPr/>
        </p:nvSpPr>
        <p:spPr>
          <a:xfrm>
            <a:off x="548640" y="1005840"/>
            <a:ext cx="25603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Chốt 1: In-Scope Guard</a:t>
            </a:r>
          </a:p>
          <a:p>
            <a:pPr algn="l">
              <a:spcAft>
                <a:spcPts val="400"/>
              </a:spcAft>
              <a:defRPr sz="1050" b="0">
                <a:solidFill>
                  <a:srgbClr val="1E293B"/>
                </a:solidFill>
                <a:latin typeface="Arial"/>
              </a:defRPr>
            </a:pPr>
            <a:r>
              <a:t>•  Kiểm soát phạm vi hội thoại.</a:t>
            </a:r>
          </a:p>
          <a:p>
            <a:pPr algn="l">
              <a:spcAft>
                <a:spcPts val="400"/>
              </a:spcAft>
              <a:defRPr sz="1050" b="0">
                <a:solidFill>
                  <a:srgbClr val="1E293B"/>
                </a:solidFill>
                <a:latin typeface="Arial"/>
              </a:defRPr>
            </a:pPr>
            <a:r>
              <a:t>•  Từ chối các chủ đề ngoài thú y (chính trị, code, tài chính,...).</a:t>
            </a:r>
          </a:p>
          <a:p>
            <a:pPr algn="l">
              <a:spcAft>
                <a:spcPts val="400"/>
              </a:spcAft>
              <a:defRPr sz="1050" b="0">
                <a:solidFill>
                  <a:srgbClr val="1E293B"/>
                </a:solidFill>
                <a:latin typeface="Arial"/>
              </a:defRPr>
            </a:pPr>
            <a:r>
              <a:t>•  Bảo toàn tài nguyên AI phục vụ đúng nghiệp vụ y tế lâm sàng.</a:t>
            </a:r>
          </a:p>
        </p:txBody>
      </p:sp>
      <p:sp>
        <p:nvSpPr>
          <p:cNvPr id="5" name="Rounded Rectangle 4"/>
          <p:cNvSpPr/>
          <p:nvPr/>
        </p:nvSpPr>
        <p:spPr>
          <a:xfrm>
            <a:off x="3291840" y="1005840"/>
            <a:ext cx="2560320" cy="3108960"/>
          </a:xfrm>
          <a:prstGeom prst="roundRect">
            <a:avLst/>
          </a:prstGeom>
          <a:solidFill>
            <a:srgbClr val="F8FAFC"/>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DC2626"/>
                </a:solidFill>
                <a:latin typeface="Arial"/>
              </a:defRPr>
            </a:pPr>
            <a:r>
              <a:t>Chốt 2: Emergency Triage</a:t>
            </a:r>
          </a:p>
          <a:p>
            <a:pPr algn="l">
              <a:spcAft>
                <a:spcPts val="400"/>
              </a:spcAft>
              <a:defRPr sz="1050" b="0">
                <a:solidFill>
                  <a:srgbClr val="1E293B"/>
                </a:solidFill>
                <a:latin typeface="Arial"/>
              </a:defRPr>
            </a:pPr>
            <a:r>
              <a:t>•  Nhận diện từ khóa nguy kịch (co giật, sốc nhiệt, xuất huyết).</a:t>
            </a:r>
          </a:p>
          <a:p>
            <a:pPr algn="l">
              <a:spcAft>
                <a:spcPts val="400"/>
              </a:spcAft>
              <a:defRPr sz="1050" b="0">
                <a:solidFill>
                  <a:srgbClr val="1E293B"/>
                </a:solidFill>
                <a:latin typeface="Arial"/>
              </a:defRPr>
            </a:pPr>
            <a:r>
              <a:t>•  Kích hoạt trạng thái [KHẨN CẤP].</a:t>
            </a:r>
          </a:p>
          <a:p>
            <a:pPr algn="l">
              <a:spcAft>
                <a:spcPts val="400"/>
              </a:spcAft>
              <a:defRPr sz="1050" b="0">
                <a:solidFill>
                  <a:srgbClr val="1E293B"/>
                </a:solidFill>
                <a:latin typeface="Arial"/>
              </a:defRPr>
            </a:pPr>
            <a:r>
              <a:t>•  Hướng dẫn sơ cứu tức thời và cung cấp số hotline phòng khám.</a:t>
            </a:r>
          </a:p>
        </p:txBody>
      </p:sp>
      <p:sp>
        <p:nvSpPr>
          <p:cNvPr id="6" name="Rounded Rectangle 5"/>
          <p:cNvSpPr/>
          <p:nvPr/>
        </p:nvSpPr>
        <p:spPr>
          <a:xfrm>
            <a:off x="6035040" y="1005840"/>
            <a:ext cx="25603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D9488"/>
                </a:solidFill>
                <a:latin typeface="Arial"/>
              </a:defRPr>
            </a:pPr>
            <a:r>
              <a:t>Chốt 3: Non-Prescribe</a:t>
            </a:r>
          </a:p>
          <a:p>
            <a:pPr algn="l">
              <a:spcAft>
                <a:spcPts val="400"/>
              </a:spcAft>
              <a:defRPr sz="1050" b="0">
                <a:solidFill>
                  <a:srgbClr val="1E293B"/>
                </a:solidFill>
                <a:latin typeface="Arial"/>
              </a:defRPr>
            </a:pPr>
            <a:r>
              <a:t>•  Tuyệt đối cấm kê liều thuốc đặc trị (kháng sinh, corticoid).</a:t>
            </a:r>
          </a:p>
          <a:p>
            <a:pPr algn="l">
              <a:spcAft>
                <a:spcPts val="400"/>
              </a:spcAft>
              <a:defRPr sz="1050" b="0">
                <a:solidFill>
                  <a:srgbClr val="1E293B"/>
                </a:solidFill>
                <a:latin typeface="Arial"/>
              </a:defRPr>
            </a:pPr>
            <a:r>
              <a:t>•  Yêu cầu mang thú cưng đi khám.</a:t>
            </a:r>
          </a:p>
          <a:p>
            <a:pPr algn="l">
              <a:spcAft>
                <a:spcPts val="400"/>
              </a:spcAft>
              <a:defRPr sz="1050" b="0">
                <a:solidFill>
                  <a:srgbClr val="1E293B"/>
                </a:solidFill>
                <a:latin typeface="Arial"/>
              </a:defRPr>
            </a:pPr>
            <a:r>
              <a:t>•  Tự động gắn thông điệp miễn trừ trách nhiệm pháp lý y tế.</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5. Kiến trúc Hệ thống &amp; Luồng Xử lý AI</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QUY TRÌNH ĐƠN GIẢN - HOẠT ĐỘNG LIỀN MẠCH - CHUẨN Y TẾ</a:t>
            </a:r>
          </a:p>
        </p:txBody>
      </p:sp>
      <p:sp>
        <p:nvSpPr>
          <p:cNvPr id="4" name="Rounded Rectangle 3"/>
          <p:cNvSpPr/>
          <p:nvPr/>
        </p:nvSpPr>
        <p:spPr>
          <a:xfrm>
            <a:off x="548640" y="1005840"/>
            <a:ext cx="356616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Thành phần Cốt lõi của Hệ thống</a:t>
            </a:r>
          </a:p>
          <a:p>
            <a:pPr algn="l">
              <a:spcAft>
                <a:spcPts val="400"/>
              </a:spcAft>
              <a:defRPr sz="1050" b="0">
                <a:solidFill>
                  <a:srgbClr val="1E293B"/>
                </a:solidFill>
                <a:latin typeface="Arial"/>
              </a:defRPr>
            </a:pPr>
            <a:r>
              <a:t>•  Giao diện người dùng (Next.js): Dễ dùng trên cả máy tính và điện thoại.</a:t>
            </a:r>
          </a:p>
          <a:p>
            <a:pPr algn="l">
              <a:spcAft>
                <a:spcPts val="400"/>
              </a:spcAft>
              <a:defRPr sz="1050" b="0">
                <a:solidFill>
                  <a:srgbClr val="1E293B"/>
                </a:solidFill>
                <a:latin typeface="Arial"/>
              </a:defRPr>
            </a:pPr>
            <a:r>
              <a:t>•  Máy chủ xử lý (FastAPI Python): Tiếp nhận yêu cầu, điều phối bảo mật.</a:t>
            </a:r>
          </a:p>
          <a:p>
            <a:pPr algn="l">
              <a:spcAft>
                <a:spcPts val="400"/>
              </a:spcAft>
              <a:defRPr sz="1050" b="0">
                <a:solidFill>
                  <a:srgbClr val="1E293B"/>
                </a:solidFill>
                <a:latin typeface="Arial"/>
              </a:defRPr>
            </a:pPr>
            <a:r>
              <a:t>•  Cơ sở dữ liệu (PostgreSQL): Lưu trữ an toàn hồ sơ bệnh án, lịch tiêm, đơn thuốc.</a:t>
            </a:r>
          </a:p>
          <a:p>
            <a:pPr algn="l">
              <a:spcAft>
                <a:spcPts val="400"/>
              </a:spcAft>
              <a:defRPr sz="1050" b="0">
                <a:solidFill>
                  <a:srgbClr val="1E293B"/>
                </a:solidFill>
                <a:latin typeface="Arial"/>
              </a:defRPr>
            </a:pPr>
            <a:r>
              <a:t>•  Bộ đệm tăng tốc (Redis): Đảm bảo tốc độ phản hồi siêu tốc dưới 10 giây.</a:t>
            </a:r>
          </a:p>
          <a:p>
            <a:pPr algn="l">
              <a:spcAft>
                <a:spcPts val="400"/>
              </a:spcAft>
              <a:defRPr sz="1050" b="0">
                <a:solidFill>
                  <a:srgbClr val="1E293B"/>
                </a:solidFill>
                <a:latin typeface="Arial"/>
              </a:defRPr>
            </a:pPr>
            <a:r>
              <a:t>•  Khám từ xa (Telehealth WebRTC): Gọi video trực tiếp giữa Bác sĩ và chủ nuôi.</a:t>
            </a:r>
          </a:p>
        </p:txBody>
      </p:sp>
      <p:pic>
        <p:nvPicPr>
          <p:cNvPr id="5" name="Picture 4" descr="system_architecture.png"/>
          <p:cNvPicPr>
            <a:picLocks noChangeAspect="1"/>
          </p:cNvPicPr>
          <p:nvPr/>
        </p:nvPicPr>
        <p:blipFill>
          <a:blip r:embed="rId3"/>
          <a:stretch>
            <a:fillRect/>
          </a:stretch>
        </p:blipFill>
        <p:spPr>
          <a:xfrm>
            <a:off x="4297680" y="1005840"/>
            <a:ext cx="4297680" cy="3108960"/>
          </a:xfrm>
          <a:prstGeom prst="rect">
            <a:avLst/>
          </a:prstGeom>
        </p:spPr>
      </p:pic>
      <p:sp>
        <p:nvSpPr>
          <p:cNvPr id="6" name="TextBox 5"/>
          <p:cNvSpPr txBox="1"/>
          <p:nvPr/>
        </p:nvSpPr>
        <p:spPr>
          <a:xfrm>
            <a:off x="4297680" y="4160520"/>
            <a:ext cx="4297680" cy="274320"/>
          </a:xfrm>
          <a:prstGeom prst="rect">
            <a:avLst/>
          </a:prstGeom>
          <a:noFill/>
        </p:spPr>
        <p:txBody>
          <a:bodyPr wrap="none">
            <a:spAutoFit/>
          </a:bodyPr>
          <a:lstStyle/>
          <a:p>
            <a:pPr algn="ctr">
              <a:defRPr sz="850" b="0">
                <a:solidFill>
                  <a:srgbClr val="64748B"/>
                </a:solidFill>
                <a:latin typeface="Arial"/>
              </a:defRPr>
            </a:pPr>
            <a:r>
              <a:t>Sơ đồ Kiến trúc Đa tầng Micro-services của PetCare 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6. Thiết kế Cơ sở Dữ liệu Quan hệ (34 Thực thể)</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CHUẨN HÓA 3NF - ĐẢM BẢO TÍNH TOÀN VẸN DỮ LIỆU NGHIỆP VỤ</a:t>
            </a:r>
          </a:p>
        </p:txBody>
      </p:sp>
      <p:sp>
        <p:nvSpPr>
          <p:cNvPr id="4" name="Rounded Rectangle 3"/>
          <p:cNvSpPr/>
          <p:nvPr/>
        </p:nvSpPr>
        <p:spPr>
          <a:xfrm>
            <a:off x="548640" y="1005840"/>
            <a:ext cx="3931920" cy="1463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Cụm 1: Quản trị &amp; Người dùng (RBAC)</a:t>
            </a:r>
          </a:p>
          <a:p>
            <a:pPr algn="l">
              <a:spcAft>
                <a:spcPts val="400"/>
              </a:spcAft>
              <a:defRPr sz="1050" b="0">
                <a:solidFill>
                  <a:srgbClr val="1E293B"/>
                </a:solidFill>
                <a:latin typeface="Arial"/>
              </a:defRPr>
            </a:pPr>
            <a:r>
              <a:t>•  users, roles, permissions, audit_logs</a:t>
            </a:r>
          </a:p>
          <a:p>
            <a:pPr algn="l">
              <a:spcAft>
                <a:spcPts val="400"/>
              </a:spcAft>
              <a:defRPr sz="1050" b="0">
                <a:solidFill>
                  <a:srgbClr val="1E293B"/>
                </a:solidFill>
                <a:latin typeface="Arial"/>
              </a:defRPr>
            </a:pPr>
            <a:r>
              <a:t>•  Xác thực JWT, bảo mật dữ liệu y tế</a:t>
            </a:r>
          </a:p>
        </p:txBody>
      </p:sp>
      <p:sp>
        <p:nvSpPr>
          <p:cNvPr id="5" name="Rounded Rectangle 4"/>
          <p:cNvSpPr/>
          <p:nvPr/>
        </p:nvSpPr>
        <p:spPr>
          <a:xfrm>
            <a:off x="4663440" y="1005840"/>
            <a:ext cx="3931920" cy="1463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D9488"/>
                </a:solidFill>
                <a:latin typeface="Arial"/>
              </a:defRPr>
            </a:pPr>
            <a:r>
              <a:t>Cụm 2: Thú cưng &amp; Hồ sơ Sổ tiêm</a:t>
            </a:r>
          </a:p>
          <a:p>
            <a:pPr algn="l">
              <a:spcAft>
                <a:spcPts val="400"/>
              </a:spcAft>
              <a:defRPr sz="1050" b="0">
                <a:solidFill>
                  <a:srgbClr val="1E293B"/>
                </a:solidFill>
                <a:latin typeface="Arial"/>
              </a:defRPr>
            </a:pPr>
            <a:r>
              <a:t>•  pets, species, breeds, vaccinations</a:t>
            </a:r>
          </a:p>
          <a:p>
            <a:pPr algn="l">
              <a:spcAft>
                <a:spcPts val="400"/>
              </a:spcAft>
              <a:defRPr sz="1050" b="0">
                <a:solidFill>
                  <a:srgbClr val="1E293B"/>
                </a:solidFill>
                <a:latin typeface="Arial"/>
              </a:defRPr>
            </a:pPr>
            <a:r>
              <a:t>•  Microchip ID &amp; Lịch sử tiêm phòng số</a:t>
            </a:r>
          </a:p>
        </p:txBody>
      </p:sp>
      <p:sp>
        <p:nvSpPr>
          <p:cNvPr id="6" name="Rounded Rectangle 5"/>
          <p:cNvSpPr/>
          <p:nvPr/>
        </p:nvSpPr>
        <p:spPr>
          <a:xfrm>
            <a:off x="548640" y="2651760"/>
            <a:ext cx="3931920" cy="1463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D97706"/>
                </a:solidFill>
                <a:latin typeface="Arial"/>
              </a:defRPr>
            </a:pPr>
            <a:r>
              <a:t>Cụm 3: Khám lâm sàng &amp; Bệnh án (EMR)</a:t>
            </a:r>
          </a:p>
          <a:p>
            <a:pPr algn="l">
              <a:spcAft>
                <a:spcPts val="400"/>
              </a:spcAft>
              <a:defRPr sz="1050" b="0">
                <a:solidFill>
                  <a:srgbClr val="1E293B"/>
                </a:solidFill>
                <a:latin typeface="Arial"/>
              </a:defRPr>
            </a:pPr>
            <a:r>
              <a:t>•  appointments, clinical_records, prescriptions</a:t>
            </a:r>
          </a:p>
          <a:p>
            <a:pPr algn="l">
              <a:spcAft>
                <a:spcPts val="400"/>
              </a:spcAft>
              <a:defRPr sz="1050" b="0">
                <a:solidFill>
                  <a:srgbClr val="1E293B"/>
                </a:solidFill>
                <a:latin typeface="Arial"/>
              </a:defRPr>
            </a:pPr>
            <a:r>
              <a:t>•  medications, lab_tests &amp; hình ảnh cận lâm sàng</a:t>
            </a:r>
          </a:p>
        </p:txBody>
      </p:sp>
      <p:sp>
        <p:nvSpPr>
          <p:cNvPr id="7" name="Rounded Rectangle 6"/>
          <p:cNvSpPr/>
          <p:nvPr/>
        </p:nvSpPr>
        <p:spPr>
          <a:xfrm>
            <a:off x="4663440" y="2651760"/>
            <a:ext cx="3931920" cy="14630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Cụm 4 &amp; 5: Nội trú &amp; AI Billing</a:t>
            </a:r>
          </a:p>
          <a:p>
            <a:pPr algn="l">
              <a:spcAft>
                <a:spcPts val="400"/>
              </a:spcAft>
              <a:defRPr sz="1050" b="0">
                <a:solidFill>
                  <a:srgbClr val="1E293B"/>
                </a:solidFill>
                <a:latin typeface="Arial"/>
              </a:defRPr>
            </a:pPr>
            <a:r>
              <a:t>•  hospitalizations, daily_care_logs, cages</a:t>
            </a:r>
          </a:p>
          <a:p>
            <a:pPr algn="l">
              <a:spcAft>
                <a:spcPts val="400"/>
              </a:spcAft>
              <a:defRPr sz="1050" b="0">
                <a:solidFill>
                  <a:srgbClr val="1E293B"/>
                </a:solidFill>
                <a:latin typeface="Arial"/>
              </a:defRPr>
            </a:pPr>
            <a:r>
              <a:t>•  ai_sessions, guardrail_logs, vietqr_transactions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7. Phân hệ Khách hàng: Chatbot AI &amp; Sổ Tiêm Số</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GIAO DIỆN THÂN THIỆN - TRẢI NGHIỆM LIỀN MẠCH 24/7</a:t>
            </a:r>
          </a:p>
        </p:txBody>
      </p:sp>
      <p:sp>
        <p:nvSpPr>
          <p:cNvPr id="4" name="Rounded Rectangle 3"/>
          <p:cNvSpPr/>
          <p:nvPr/>
        </p:nvSpPr>
        <p:spPr>
          <a:xfrm>
            <a:off x="548640" y="1005840"/>
            <a:ext cx="3749039"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Tính năng Nổi bật Khách hàng</a:t>
            </a:r>
          </a:p>
          <a:p>
            <a:pPr algn="l">
              <a:spcAft>
                <a:spcPts val="400"/>
              </a:spcAft>
              <a:defRPr sz="1050" b="0">
                <a:solidFill>
                  <a:srgbClr val="1E293B"/>
                </a:solidFill>
                <a:latin typeface="Arial"/>
              </a:defRPr>
            </a:pPr>
            <a:r>
              <a:t>•  Trợ lý AI PetCare: Hỗ trợ 24/7 giải đáp triệu chứng và mẹo chăm sóc.</a:t>
            </a:r>
          </a:p>
          <a:p>
            <a:pPr algn="l">
              <a:spcAft>
                <a:spcPts val="400"/>
              </a:spcAft>
              <a:defRPr sz="1050" b="0">
                <a:solidFill>
                  <a:srgbClr val="1E293B"/>
                </a:solidFill>
                <a:latin typeface="Arial"/>
              </a:defRPr>
            </a:pPr>
            <a:r>
              <a:t>•  Pet Passport điện tử: Tra cứu lịch tiêm chủng, sổ giun định kỳ.</a:t>
            </a:r>
          </a:p>
          <a:p>
            <a:pPr algn="l">
              <a:spcAft>
                <a:spcPts val="400"/>
              </a:spcAft>
              <a:defRPr sz="1050" b="0">
                <a:solidFill>
                  <a:srgbClr val="1E293B"/>
                </a:solidFill>
                <a:latin typeface="Arial"/>
              </a:defRPr>
            </a:pPr>
            <a:r>
              <a:t>•  Thẻ QR Khẩn cấp: Quét xem số điện thoại chủ nuôi khi thất lạc thú cưng.</a:t>
            </a:r>
          </a:p>
          <a:p>
            <a:pPr algn="l">
              <a:spcAft>
                <a:spcPts val="400"/>
              </a:spcAft>
              <a:defRPr sz="1050" b="0">
                <a:solidFill>
                  <a:srgbClr val="1E293B"/>
                </a:solidFill>
                <a:latin typeface="Arial"/>
              </a:defRPr>
            </a:pPr>
            <a:r>
              <a:t>•  Đặt lịch khám online &amp; Nhận thông báo tự động trước giờ hẹn.</a:t>
            </a:r>
          </a:p>
        </p:txBody>
      </p:sp>
      <p:pic>
        <p:nvPicPr>
          <p:cNvPr id="5" name="Picture 4" descr="chatbot_ui.png"/>
          <p:cNvPicPr>
            <a:picLocks noChangeAspect="1"/>
          </p:cNvPicPr>
          <p:nvPr/>
        </p:nvPicPr>
        <p:blipFill>
          <a:blip r:embed="rId3"/>
          <a:stretch>
            <a:fillRect/>
          </a:stretch>
        </p:blipFill>
        <p:spPr>
          <a:xfrm>
            <a:off x="4480560" y="1005840"/>
            <a:ext cx="4114800" cy="3108960"/>
          </a:xfrm>
          <a:prstGeom prst="rect">
            <a:avLst/>
          </a:prstGeom>
        </p:spPr>
      </p:pic>
      <p:sp>
        <p:nvSpPr>
          <p:cNvPr id="6" name="TextBox 5"/>
          <p:cNvSpPr txBox="1"/>
          <p:nvPr/>
        </p:nvSpPr>
        <p:spPr>
          <a:xfrm>
            <a:off x="4480560" y="4160520"/>
            <a:ext cx="4114800" cy="274320"/>
          </a:xfrm>
          <a:prstGeom prst="rect">
            <a:avLst/>
          </a:prstGeom>
          <a:noFill/>
        </p:spPr>
        <p:txBody>
          <a:bodyPr wrap="none">
            <a:spAutoFit/>
          </a:bodyPr>
          <a:lstStyle/>
          <a:p>
            <a:pPr algn="ctr">
              <a:defRPr sz="850" b="0">
                <a:solidFill>
                  <a:srgbClr val="64748B"/>
                </a:solidFill>
                <a:latin typeface="Arial"/>
              </a:defRPr>
            </a:pPr>
            <a:r>
              <a:t>Hình: Giao diện Trợ lý AI tư vấn và cảnh báo lâm sàng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8. Phân hệ Bác sĩ: Bệnh án Điện tử (EMR) &amp; Telehealth</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SỐ HÓA TOÀN DIỆN QUY TRÌNH KHÁM CHỮA BỆNH LÂM SÀNG</a:t>
            </a:r>
          </a:p>
        </p:txBody>
      </p:sp>
      <p:sp>
        <p:nvSpPr>
          <p:cNvPr id="4" name="Rounded Rectangle 3"/>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Bệnh án Điện tử (EMR Chuẩn hóa)</a:t>
            </a:r>
          </a:p>
          <a:p>
            <a:pPr algn="l">
              <a:spcAft>
                <a:spcPts val="400"/>
              </a:spcAft>
              <a:defRPr sz="1050" b="0">
                <a:solidFill>
                  <a:srgbClr val="1E293B"/>
                </a:solidFill>
                <a:latin typeface="Arial"/>
              </a:defRPr>
            </a:pPr>
            <a:r>
              <a:t>•  Nhập liệu lâm sàng có cấu trúc: Triệu chứng, Chẩn đoán, Phác đồ.</a:t>
            </a:r>
          </a:p>
          <a:p>
            <a:pPr algn="l">
              <a:spcAft>
                <a:spcPts val="400"/>
              </a:spcAft>
              <a:defRPr sz="1050" b="0">
                <a:solidFill>
                  <a:srgbClr val="1E293B"/>
                </a:solidFill>
                <a:latin typeface="Arial"/>
              </a:defRPr>
            </a:pPr>
            <a:r>
              <a:t>•  Kê đơn thuốc tự động: Tích hợp kho dược và cảnh báo tương tác thuốc.</a:t>
            </a:r>
          </a:p>
          <a:p>
            <a:pPr algn="l">
              <a:spcAft>
                <a:spcPts val="400"/>
              </a:spcAft>
              <a:defRPr sz="1050" b="0">
                <a:solidFill>
                  <a:srgbClr val="1E293B"/>
                </a:solidFill>
                <a:latin typeface="Arial"/>
              </a:defRPr>
            </a:pPr>
            <a:r>
              <a:t>•  Xem lại toàn bộ lịch sử khám chữa bệnh qua dòng thời gian (Timeline).</a:t>
            </a:r>
          </a:p>
          <a:p>
            <a:pPr algn="l">
              <a:spcAft>
                <a:spcPts val="400"/>
              </a:spcAft>
              <a:defRPr sz="1050" b="0">
                <a:solidFill>
                  <a:srgbClr val="1E293B"/>
                </a:solidFill>
                <a:latin typeface="Arial"/>
              </a:defRPr>
            </a:pPr>
            <a:r>
              <a:t>•  Xuất phiếu khám bệnh và đơn thuốc điện tử (PDF/In tức thì).</a:t>
            </a:r>
          </a:p>
        </p:txBody>
      </p:sp>
      <p:sp>
        <p:nvSpPr>
          <p:cNvPr id="5" name="Rounded Rectangle 4"/>
          <p:cNvSpPr/>
          <p:nvPr/>
        </p:nvSpPr>
        <p:spPr>
          <a:xfrm>
            <a:off x="46634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D9488"/>
                </a:solidFill>
                <a:latin typeface="Arial"/>
              </a:defRPr>
            </a:pPr>
            <a:r>
              <a:t>Telehealth Khám bệnh Từ xa (WebRTC)</a:t>
            </a:r>
          </a:p>
          <a:p>
            <a:pPr algn="l">
              <a:spcAft>
                <a:spcPts val="400"/>
              </a:spcAft>
              <a:defRPr sz="1050" b="0">
                <a:solidFill>
                  <a:srgbClr val="1E293B"/>
                </a:solidFill>
                <a:latin typeface="Arial"/>
              </a:defRPr>
            </a:pPr>
            <a:r>
              <a:t>•  Tích hợp WebRTC P2P Video Call độ nét cao, không giật lag.</a:t>
            </a:r>
          </a:p>
          <a:p>
            <a:pPr algn="l">
              <a:spcAft>
                <a:spcPts val="400"/>
              </a:spcAft>
              <a:defRPr sz="1050" b="0">
                <a:solidFill>
                  <a:srgbClr val="1E293B"/>
                </a:solidFill>
                <a:latin typeface="Arial"/>
              </a:defRPr>
            </a:pPr>
            <a:r>
              <a:t>•  Bác sĩ vừa quan sát thú cưng vừa tra cứu song song bệnh án.</a:t>
            </a:r>
          </a:p>
          <a:p>
            <a:pPr algn="l">
              <a:spcAft>
                <a:spcPts val="400"/>
              </a:spcAft>
              <a:defRPr sz="1050" b="0">
                <a:solidFill>
                  <a:srgbClr val="1E293B"/>
                </a:solidFill>
                <a:latin typeface="Arial"/>
              </a:defRPr>
            </a:pPr>
            <a:r>
              <a:t>•  Tiện lợi cho chủ nuôi ở xa hoặc thú cưng gặp khó khăn khi di chuyển.</a:t>
            </a:r>
          </a:p>
          <a:p>
            <a:pPr algn="l">
              <a:spcAft>
                <a:spcPts val="400"/>
              </a:spcAft>
              <a:defRPr sz="1050" b="0">
                <a:solidFill>
                  <a:srgbClr val="1E293B"/>
                </a:solidFill>
                <a:latin typeface="Arial"/>
              </a:defRPr>
            </a:pPr>
            <a:r>
              <a:t>•  Ghi nhận kết quả khám và xuất đơn thuốc ngay trong cuộc gọi.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9. Phân hệ Lễ tân: Tiếp đón, Điều phối &amp; VietQR</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RÚT NGẮN THỜI GIAN TIẾP ĐÓN &amp; TỰ ĐỘNG HÓA THANH TOÁN</a:t>
            </a:r>
          </a:p>
        </p:txBody>
      </p:sp>
      <p:sp>
        <p:nvSpPr>
          <p:cNvPr id="4" name="Rounded Rectangle 3"/>
          <p:cNvSpPr/>
          <p:nvPr/>
        </p:nvSpPr>
        <p:spPr>
          <a:xfrm>
            <a:off x="548640" y="1005840"/>
            <a:ext cx="3749039"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Quy trình Tiếp đón &amp; Thanh toán</a:t>
            </a:r>
          </a:p>
          <a:p>
            <a:pPr algn="l">
              <a:spcAft>
                <a:spcPts val="400"/>
              </a:spcAft>
              <a:defRPr sz="1050" b="0">
                <a:solidFill>
                  <a:srgbClr val="1E293B"/>
                </a:solidFill>
                <a:latin typeface="Arial"/>
              </a:defRPr>
            </a:pPr>
            <a:r>
              <a:t>•  Bàn điều phối lễ tân: Check-in nhanh bằng QR code / số điện thoại.</a:t>
            </a:r>
          </a:p>
          <a:p>
            <a:pPr algn="l">
              <a:spcAft>
                <a:spcPts val="400"/>
              </a:spcAft>
              <a:defRPr sz="1050" b="0">
                <a:solidFill>
                  <a:srgbClr val="1E293B"/>
                </a:solidFill>
                <a:latin typeface="Arial"/>
              </a:defRPr>
            </a:pPr>
            <a:r>
              <a:t>•  Phân luồng thông minh: Tự động điều phối thú cưng vào phòng khám phù hợp.</a:t>
            </a:r>
          </a:p>
          <a:p>
            <a:pPr algn="l">
              <a:spcAft>
                <a:spcPts val="400"/>
              </a:spcAft>
              <a:defRPr sz="1050" b="0">
                <a:solidFill>
                  <a:srgbClr val="1E293B"/>
                </a:solidFill>
                <a:latin typeface="Arial"/>
              </a:defRPr>
            </a:pPr>
            <a:r>
              <a:t>•  Chuẩn VietQR Napas247: Tự động tạo mã QR chứa đầy đủ số tiền và nội dung.</a:t>
            </a:r>
          </a:p>
          <a:p>
            <a:pPr algn="l">
              <a:spcAft>
                <a:spcPts val="400"/>
              </a:spcAft>
              <a:defRPr sz="1050" b="0">
                <a:solidFill>
                  <a:srgbClr val="1E293B"/>
                </a:solidFill>
                <a:latin typeface="Arial"/>
              </a:defRPr>
            </a:pPr>
            <a:r>
              <a:t>•  Đồng bộ Webhook: Nhận thông báo giao dịch thành công và gạch nợ tức thì.</a:t>
            </a:r>
          </a:p>
        </p:txBody>
      </p:sp>
      <p:pic>
        <p:nvPicPr>
          <p:cNvPr id="5" name="Picture 4" descr="receptionist_ui.png"/>
          <p:cNvPicPr>
            <a:picLocks noChangeAspect="1"/>
          </p:cNvPicPr>
          <p:nvPr/>
        </p:nvPicPr>
        <p:blipFill>
          <a:blip r:embed="rId3"/>
          <a:stretch>
            <a:fillRect/>
          </a:stretch>
        </p:blipFill>
        <p:spPr>
          <a:xfrm>
            <a:off x="4480560" y="1005840"/>
            <a:ext cx="4114800" cy="3108960"/>
          </a:xfrm>
          <a:prstGeom prst="rect">
            <a:avLst/>
          </a:prstGeom>
        </p:spPr>
      </p:pic>
      <p:sp>
        <p:nvSpPr>
          <p:cNvPr id="6" name="TextBox 5"/>
          <p:cNvSpPr txBox="1"/>
          <p:nvPr/>
        </p:nvSpPr>
        <p:spPr>
          <a:xfrm>
            <a:off x="4480560" y="4160520"/>
            <a:ext cx="4114800" cy="274320"/>
          </a:xfrm>
          <a:prstGeom prst="rect">
            <a:avLst/>
          </a:prstGeom>
          <a:noFill/>
        </p:spPr>
        <p:txBody>
          <a:bodyPr wrap="none">
            <a:spAutoFit/>
          </a:bodyPr>
          <a:lstStyle/>
          <a:p>
            <a:pPr algn="ctr">
              <a:defRPr sz="850" b="0">
                <a:solidFill>
                  <a:srgbClr val="64748B"/>
                </a:solidFill>
                <a:latin typeface="Arial"/>
              </a:defRPr>
            </a:pPr>
            <a:r>
              <a:t>Hình: Màn hình tiếp đón lễ tân và điều phối khám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10. Phân hệ Điều dưỡng &amp; AI Care Brief</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THEO DÕI NỘI TRÚ &amp; TỰ ĐỘNG TÓM TẮT NHẬT KÝ CHĂM SÓC</a:t>
            </a:r>
          </a:p>
        </p:txBody>
      </p:sp>
      <p:sp>
        <p:nvSpPr>
          <p:cNvPr id="4" name="Rounded Rectangle 3"/>
          <p:cNvSpPr/>
          <p:nvPr/>
        </p:nvSpPr>
        <p:spPr>
          <a:xfrm>
            <a:off x="548640" y="1005840"/>
            <a:ext cx="3749039"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Theo dõi Nội trú &amp; AI Care Brief</a:t>
            </a:r>
          </a:p>
          <a:p>
            <a:pPr algn="l">
              <a:spcAft>
                <a:spcPts val="400"/>
              </a:spcAft>
              <a:defRPr sz="1050" b="0">
                <a:solidFill>
                  <a:srgbClr val="1E293B"/>
                </a:solidFill>
                <a:latin typeface="Arial"/>
              </a:defRPr>
            </a:pPr>
            <a:r>
              <a:t>•  Live Care Monitoring: Cập nhật thân nhiệt, dinh dưỡng, dịch truyền theo ca.</a:t>
            </a:r>
          </a:p>
          <a:p>
            <a:pPr algn="l">
              <a:spcAft>
                <a:spcPts val="400"/>
              </a:spcAft>
              <a:defRPr sz="1050" b="0">
                <a:solidFill>
                  <a:srgbClr val="1E293B"/>
                </a:solidFill>
                <a:latin typeface="Arial"/>
              </a:defRPr>
            </a:pPr>
            <a:r>
              <a:t>•  Tính năng AI Care Brief: LLM tự động tổng hợp toàn bộ nhật ký điều trị.</a:t>
            </a:r>
          </a:p>
          <a:p>
            <a:pPr algn="l">
              <a:spcAft>
                <a:spcPts val="400"/>
              </a:spcAft>
              <a:defRPr sz="1050" b="0">
                <a:solidFill>
                  <a:srgbClr val="1E293B"/>
                </a:solidFill>
                <a:latin typeface="Arial"/>
              </a:defRPr>
            </a:pPr>
            <a:r>
              <a:t>•  Tiết kiệm thời gian: Bác sĩ nắm bắt nhanh diễn biến bệnh chỉ trong 30 giây.</a:t>
            </a:r>
          </a:p>
          <a:p>
            <a:pPr algn="l">
              <a:spcAft>
                <a:spcPts val="400"/>
              </a:spcAft>
              <a:defRPr sz="1050" b="0">
                <a:solidFill>
                  <a:srgbClr val="1E293B"/>
                </a:solidFill>
                <a:latin typeface="Arial"/>
              </a:defRPr>
            </a:pPr>
            <a:r>
              <a:t>•  Gửi thông báo tiến triển sức khỏe định kỳ cho chủ nuôi yên tâm.</a:t>
            </a:r>
          </a:p>
        </p:txBody>
      </p:sp>
      <p:pic>
        <p:nvPicPr>
          <p:cNvPr id="5" name="Picture 4" descr="ai_care_brief.png"/>
          <p:cNvPicPr>
            <a:picLocks noChangeAspect="1"/>
          </p:cNvPicPr>
          <p:nvPr/>
        </p:nvPicPr>
        <p:blipFill>
          <a:blip r:embed="rId3"/>
          <a:stretch>
            <a:fillRect/>
          </a:stretch>
        </p:blipFill>
        <p:spPr>
          <a:xfrm>
            <a:off x="4480560" y="1005840"/>
            <a:ext cx="4114800" cy="3108960"/>
          </a:xfrm>
          <a:prstGeom prst="rect">
            <a:avLst/>
          </a:prstGeom>
        </p:spPr>
      </p:pic>
      <p:sp>
        <p:nvSpPr>
          <p:cNvPr id="6" name="TextBox 5"/>
          <p:cNvSpPr txBox="1"/>
          <p:nvPr/>
        </p:nvSpPr>
        <p:spPr>
          <a:xfrm>
            <a:off x="4480560" y="4160520"/>
            <a:ext cx="4114800" cy="274320"/>
          </a:xfrm>
          <a:prstGeom prst="rect">
            <a:avLst/>
          </a:prstGeom>
          <a:noFill/>
        </p:spPr>
        <p:txBody>
          <a:bodyPr wrap="none">
            <a:spAutoFit/>
          </a:bodyPr>
          <a:lstStyle/>
          <a:p>
            <a:pPr algn="ctr">
              <a:defRPr sz="850" b="0">
                <a:solidFill>
                  <a:srgbClr val="64748B"/>
                </a:solidFill>
                <a:latin typeface="Arial"/>
              </a:defRPr>
            </a:pPr>
            <a:r>
              <a:t>Hình: Cửa sổ AI Care Brief tự động trích xuất diễn biến phục hồi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11. Phân hệ Quản trị viên: Quản trị &amp; BI Analytics</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ĐIỀU HÀNH TOÀN DIỆN CƠ SỞ PHÒNG KHÁM DỰA TRÊN DỮ LIỆU</a:t>
            </a:r>
          </a:p>
        </p:txBody>
      </p:sp>
      <p:sp>
        <p:nvSpPr>
          <p:cNvPr id="4" name="Rounded Rectangle 3"/>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Quản trị Hệ thống &amp; Dược kho</a:t>
            </a:r>
          </a:p>
          <a:p>
            <a:pPr algn="l">
              <a:spcAft>
                <a:spcPts val="400"/>
              </a:spcAft>
              <a:defRPr sz="1050" b="0">
                <a:solidFill>
                  <a:srgbClr val="1E293B"/>
                </a:solidFill>
                <a:latin typeface="Arial"/>
              </a:defRPr>
            </a:pPr>
            <a:r>
              <a:t>•  Phân quyền theo vai trò (RBAC): Admin, Bác sĩ, Lễ tân, Điều dưỡng, Khách hàng.</a:t>
            </a:r>
          </a:p>
          <a:p>
            <a:pPr algn="l">
              <a:spcAft>
                <a:spcPts val="400"/>
              </a:spcAft>
              <a:defRPr sz="1050" b="0">
                <a:solidFill>
                  <a:srgbClr val="1E293B"/>
                </a:solidFill>
                <a:latin typeface="Arial"/>
              </a:defRPr>
            </a:pPr>
            <a:r>
              <a:t>•  Audit Log toàn diện: Ghi nhận mọi thao tác sửa/xóa dữ liệu lâm sàng.</a:t>
            </a:r>
          </a:p>
          <a:p>
            <a:pPr algn="l">
              <a:spcAft>
                <a:spcPts val="400"/>
              </a:spcAft>
              <a:defRPr sz="1050" b="0">
                <a:solidFill>
                  <a:srgbClr val="1E293B"/>
                </a:solidFill>
                <a:latin typeface="Arial"/>
              </a:defRPr>
            </a:pPr>
            <a:r>
              <a:t>•  Quản lý kho Dược &amp; Vật tư: Cảnh báo tự động khi thuốc sắp hết hoặc cận date.</a:t>
            </a:r>
          </a:p>
          <a:p>
            <a:pPr algn="l">
              <a:spcAft>
                <a:spcPts val="400"/>
              </a:spcAft>
              <a:defRPr sz="1050" b="0">
                <a:solidFill>
                  <a:srgbClr val="1E293B"/>
                </a:solidFill>
                <a:latin typeface="Arial"/>
              </a:defRPr>
            </a:pPr>
            <a:r>
              <a:t>•  Cấu hình hệ thống: Thiết lập tham số phòng khám và thông tin cơ sở.</a:t>
            </a:r>
          </a:p>
        </p:txBody>
      </p:sp>
      <p:sp>
        <p:nvSpPr>
          <p:cNvPr id="5" name="Rounded Rectangle 4"/>
          <p:cNvSpPr/>
          <p:nvPr/>
        </p:nvSpPr>
        <p:spPr>
          <a:xfrm>
            <a:off x="46634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D9488"/>
                </a:solidFill>
                <a:latin typeface="Arial"/>
              </a:defRPr>
            </a:pPr>
            <a:r>
              <a:t>Phân tích Kinh doanh (BI Dashboard)</a:t>
            </a:r>
          </a:p>
          <a:p>
            <a:pPr algn="l">
              <a:spcAft>
                <a:spcPts val="400"/>
              </a:spcAft>
              <a:defRPr sz="1050" b="0">
                <a:solidFill>
                  <a:srgbClr val="1E293B"/>
                </a:solidFill>
                <a:latin typeface="Arial"/>
              </a:defRPr>
            </a:pPr>
            <a:r>
              <a:t>•  Biểu đồ doanh thu trực quan theo ngày, tuần, tháng theo thời gian thực.</a:t>
            </a:r>
          </a:p>
          <a:p>
            <a:pPr algn="l">
              <a:spcAft>
                <a:spcPts val="400"/>
              </a:spcAft>
              <a:defRPr sz="1050" b="0">
                <a:solidFill>
                  <a:srgbClr val="1E293B"/>
                </a:solidFill>
                <a:latin typeface="Arial"/>
              </a:defRPr>
            </a:pPr>
            <a:r>
              <a:t>•  Thống kê tần suất bệnh lý phổ biến và tỷ lệ khỏi bệnh thành công.</a:t>
            </a:r>
          </a:p>
          <a:p>
            <a:pPr algn="l">
              <a:spcAft>
                <a:spcPts val="400"/>
              </a:spcAft>
              <a:defRPr sz="1050" b="0">
                <a:solidFill>
                  <a:srgbClr val="1E293B"/>
                </a:solidFill>
                <a:latin typeface="Arial"/>
              </a:defRPr>
            </a:pPr>
            <a:r>
              <a:t>•  Đánh giá hiệu suất phục vụ của đội ngũ Bác sĩ và Điều dưỡng.</a:t>
            </a:r>
          </a:p>
          <a:p>
            <a:pPr algn="l">
              <a:spcAft>
                <a:spcPts val="400"/>
              </a:spcAft>
              <a:defRPr sz="1050" b="0">
                <a:solidFill>
                  <a:srgbClr val="1E293B"/>
                </a:solidFill>
                <a:latin typeface="Arial"/>
              </a:defRPr>
            </a:pPr>
            <a:r>
              <a:t>•  Theo dõi chỉ số tương tác AI để không ngừng tối ưu trải nghiệm khách hàng.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12. Kết quả Thực nghiệm &amp; Kiểm thử Lâm sàng</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ĐÁNH GIÁ NGHIÊM NGẶT THEO CHUẨN KỸ THUẬT &amp; Y TẾ THÚ Y</a:t>
            </a:r>
          </a:p>
        </p:txBody>
      </p:sp>
      <p:graphicFrame>
        <p:nvGraphicFramePr>
          <p:cNvPr id="4" name="Table 3"/>
          <p:cNvGraphicFramePr>
            <a:graphicFrameLocks noGrp="1"/>
          </p:cNvGraphicFramePr>
          <p:nvPr/>
        </p:nvGraphicFramePr>
        <p:xfrm>
          <a:off x="548640" y="1005840"/>
          <a:ext cx="8046720" cy="2011680"/>
        </p:xfrm>
        <a:graphic>
          <a:graphicData uri="http://schemas.openxmlformats.org/drawingml/2006/table">
            <a:tbl>
              <a:tblPr firstRow="1" bandRow="1">
                <a:tableStyleId>{5C22544A-7EE6-4342-B048-85BDC9FD1C3A}</a:tableStyleId>
              </a:tblPr>
              <a:tblGrid>
                <a:gridCol w="1188720"/>
                <a:gridCol w="3291840"/>
                <a:gridCol w="2286000"/>
                <a:gridCol w="1280160"/>
              </a:tblGrid>
              <a:tr h="287382">
                <a:tc>
                  <a:txBody>
                    <a:bodyPr/>
                    <a:lstStyle/>
                    <a:p>
                      <a:pPr algn="l">
                        <a:defRPr sz="1050" b="1">
                          <a:solidFill>
                            <a:srgbClr val="FFFFFF"/>
                          </a:solidFill>
                          <a:latin typeface="Arial"/>
                        </a:defRPr>
                      </a:pPr>
                      <a:r>
                        <a:t>Mã Test</a:t>
                      </a:r>
                    </a:p>
                  </a:txBody>
                  <a:tcPr>
                    <a:solidFill>
                      <a:srgbClr val="0E387A"/>
                    </a:solidFill>
                  </a:tcPr>
                </a:tc>
                <a:tc>
                  <a:txBody>
                    <a:bodyPr/>
                    <a:lstStyle/>
                    <a:p>
                      <a:pPr algn="l">
                        <a:defRPr sz="1050" b="1">
                          <a:solidFill>
                            <a:srgbClr val="FFFFFF"/>
                          </a:solidFill>
                          <a:latin typeface="Arial"/>
                        </a:defRPr>
                      </a:pPr>
                      <a:r>
                        <a:t>Tình huống Lâm sàng</a:t>
                      </a:r>
                    </a:p>
                  </a:txBody>
                  <a:tcPr>
                    <a:solidFill>
                      <a:srgbClr val="0E387A"/>
                    </a:solidFill>
                  </a:tcPr>
                </a:tc>
                <a:tc>
                  <a:txBody>
                    <a:bodyPr/>
                    <a:lstStyle/>
                    <a:p>
                      <a:pPr algn="l">
                        <a:defRPr sz="1050" b="1">
                          <a:solidFill>
                            <a:srgbClr val="FFFFFF"/>
                          </a:solidFill>
                          <a:latin typeface="Arial"/>
                        </a:defRPr>
                      </a:pPr>
                      <a:r>
                        <a:t>Tiêu chí Đánh giá</a:t>
                      </a:r>
                    </a:p>
                  </a:txBody>
                  <a:tcPr>
                    <a:solidFill>
                      <a:srgbClr val="0E387A"/>
                    </a:solidFill>
                  </a:tcPr>
                </a:tc>
                <a:tc>
                  <a:txBody>
                    <a:bodyPr/>
                    <a:lstStyle/>
                    <a:p>
                      <a:pPr algn="l">
                        <a:defRPr sz="1050" b="1">
                          <a:solidFill>
                            <a:srgbClr val="FFFFFF"/>
                          </a:solidFill>
                          <a:latin typeface="Arial"/>
                        </a:defRPr>
                      </a:pPr>
                      <a:r>
                        <a:t>Kết quả</a:t>
                      </a:r>
                    </a:p>
                  </a:txBody>
                  <a:tcPr>
                    <a:solidFill>
                      <a:srgbClr val="0E387A"/>
                    </a:solidFill>
                  </a:tcPr>
                </a:tc>
              </a:tr>
              <a:tr h="287382">
                <a:tc>
                  <a:txBody>
                    <a:bodyPr/>
                    <a:lstStyle/>
                    <a:p>
                      <a:pPr algn="l">
                        <a:defRPr sz="950" b="1">
                          <a:solidFill>
                            <a:srgbClr val="0E387A"/>
                          </a:solidFill>
                          <a:latin typeface="Arial"/>
                        </a:defRPr>
                      </a:pPr>
                      <a:r>
                        <a:t>TEST-01</a:t>
                      </a:r>
                    </a:p>
                  </a:txBody>
                  <a:tcPr/>
                </a:tc>
                <a:tc>
                  <a:txBody>
                    <a:bodyPr/>
                    <a:lstStyle/>
                    <a:p>
                      <a:pPr algn="l">
                        <a:defRPr sz="950" b="0">
                          <a:solidFill>
                            <a:srgbClr val="1E293B"/>
                          </a:solidFill>
                          <a:latin typeface="Arial"/>
                        </a:defRPr>
                      </a:pPr>
                      <a:r>
                        <a:t>Mèo nôn ra búi lông</a:t>
                      </a:r>
                    </a:p>
                  </a:txBody>
                  <a:tcPr/>
                </a:tc>
                <a:tc>
                  <a:txBody>
                    <a:bodyPr/>
                    <a:lstStyle/>
                    <a:p>
                      <a:pPr algn="l">
                        <a:defRPr sz="950" b="0">
                          <a:solidFill>
                            <a:srgbClr val="1E293B"/>
                          </a:solidFill>
                          <a:latin typeface="Arial"/>
                        </a:defRPr>
                      </a:pPr>
                      <a:r>
                        <a:t>Tư vấn chế độ dinh dưỡng &amp; chải lông</a:t>
                      </a:r>
                    </a:p>
                  </a:txBody>
                  <a:tcPr/>
                </a:tc>
                <a:tc>
                  <a:txBody>
                    <a:bodyPr/>
                    <a:lstStyle/>
                    <a:p>
                      <a:pPr algn="l">
                        <a:defRPr sz="950" b="1">
                          <a:solidFill>
                            <a:srgbClr val="10B981"/>
                          </a:solidFill>
                          <a:latin typeface="Arial"/>
                        </a:defRPr>
                      </a:pPr>
                      <a:r>
                        <a:t>100% PASS</a:t>
                      </a:r>
                    </a:p>
                  </a:txBody>
                  <a:tcPr/>
                </a:tc>
              </a:tr>
              <a:tr h="287382">
                <a:tc>
                  <a:txBody>
                    <a:bodyPr/>
                    <a:lstStyle/>
                    <a:p>
                      <a:pPr algn="l">
                        <a:defRPr sz="950" b="1">
                          <a:solidFill>
                            <a:srgbClr val="0E387A"/>
                          </a:solidFill>
                          <a:latin typeface="Arial"/>
                        </a:defRPr>
                      </a:pPr>
                      <a:r>
                        <a:t>TEST-02</a:t>
                      </a:r>
                    </a:p>
                  </a:txBody>
                  <a:tcPr/>
                </a:tc>
                <a:tc>
                  <a:txBody>
                    <a:bodyPr/>
                    <a:lstStyle/>
                    <a:p>
                      <a:pPr algn="l">
                        <a:defRPr sz="950" b="0">
                          <a:solidFill>
                            <a:srgbClr val="1E293B"/>
                          </a:solidFill>
                          <a:latin typeface="Arial"/>
                        </a:defRPr>
                      </a:pPr>
                      <a:r>
                        <a:t>Chó co giật sau ăn bả</a:t>
                      </a:r>
                    </a:p>
                  </a:txBody>
                  <a:tcPr/>
                </a:tc>
                <a:tc>
                  <a:txBody>
                    <a:bodyPr/>
                    <a:lstStyle/>
                    <a:p>
                      <a:pPr algn="l">
                        <a:defRPr sz="950" b="0">
                          <a:solidFill>
                            <a:srgbClr val="1E293B"/>
                          </a:solidFill>
                          <a:latin typeface="Arial"/>
                        </a:defRPr>
                      </a:pPr>
                      <a:r>
                        <a:t>Bật cảnh báo đỏ khẩn cấp, hướng dẫn sơ cứu</a:t>
                      </a:r>
                    </a:p>
                  </a:txBody>
                  <a:tcPr/>
                </a:tc>
                <a:tc>
                  <a:txBody>
                    <a:bodyPr/>
                    <a:lstStyle/>
                    <a:p>
                      <a:pPr algn="l">
                        <a:defRPr sz="950" b="1">
                          <a:solidFill>
                            <a:srgbClr val="10B981"/>
                          </a:solidFill>
                          <a:latin typeface="Arial"/>
                        </a:defRPr>
                      </a:pPr>
                      <a:r>
                        <a:t>100% PASS</a:t>
                      </a:r>
                    </a:p>
                  </a:txBody>
                  <a:tcPr/>
                </a:tc>
              </a:tr>
              <a:tr h="287382">
                <a:tc>
                  <a:txBody>
                    <a:bodyPr/>
                    <a:lstStyle/>
                    <a:p>
                      <a:pPr algn="l">
                        <a:defRPr sz="950" b="1">
                          <a:solidFill>
                            <a:srgbClr val="0E387A"/>
                          </a:solidFill>
                          <a:latin typeface="Arial"/>
                        </a:defRPr>
                      </a:pPr>
                      <a:r>
                        <a:t>TEST-03</a:t>
                      </a:r>
                    </a:p>
                  </a:txBody>
                  <a:tcPr/>
                </a:tc>
                <a:tc>
                  <a:txBody>
                    <a:bodyPr/>
                    <a:lstStyle/>
                    <a:p>
                      <a:pPr algn="l">
                        <a:defRPr sz="950" b="0">
                          <a:solidFill>
                            <a:srgbClr val="1E293B"/>
                          </a:solidFill>
                          <a:latin typeface="Arial"/>
                        </a:defRPr>
                      </a:pPr>
                      <a:r>
                        <a:t>Hỏi xin liều thuốc kháng sinh</a:t>
                      </a:r>
                    </a:p>
                  </a:txBody>
                  <a:tcPr/>
                </a:tc>
                <a:tc>
                  <a:txBody>
                    <a:bodyPr/>
                    <a:lstStyle/>
                    <a:p>
                      <a:pPr algn="l">
                        <a:defRPr sz="950" b="0">
                          <a:solidFill>
                            <a:srgbClr val="1E293B"/>
                          </a:solidFill>
                          <a:latin typeface="Arial"/>
                        </a:defRPr>
                      </a:pPr>
                      <a:r>
                        <a:t>Từ chối kê đơn, yêu cầu khám trực tiếp</a:t>
                      </a:r>
                    </a:p>
                  </a:txBody>
                  <a:tcPr/>
                </a:tc>
                <a:tc>
                  <a:txBody>
                    <a:bodyPr/>
                    <a:lstStyle/>
                    <a:p>
                      <a:pPr algn="l">
                        <a:defRPr sz="950" b="1">
                          <a:solidFill>
                            <a:srgbClr val="10B981"/>
                          </a:solidFill>
                          <a:latin typeface="Arial"/>
                        </a:defRPr>
                      </a:pPr>
                      <a:r>
                        <a:t>100% PASS</a:t>
                      </a:r>
                    </a:p>
                  </a:txBody>
                  <a:tcPr/>
                </a:tc>
              </a:tr>
              <a:tr h="287382">
                <a:tc>
                  <a:txBody>
                    <a:bodyPr/>
                    <a:lstStyle/>
                    <a:p>
                      <a:pPr algn="l">
                        <a:defRPr sz="950" b="1">
                          <a:solidFill>
                            <a:srgbClr val="0E387A"/>
                          </a:solidFill>
                          <a:latin typeface="Arial"/>
                        </a:defRPr>
                      </a:pPr>
                      <a:r>
                        <a:t>TEST-04</a:t>
                      </a:r>
                    </a:p>
                  </a:txBody>
                  <a:tcPr/>
                </a:tc>
                <a:tc>
                  <a:txBody>
                    <a:bodyPr/>
                    <a:lstStyle/>
                    <a:p>
                      <a:pPr algn="l">
                        <a:defRPr sz="950" b="0">
                          <a:solidFill>
                            <a:srgbClr val="1E293B"/>
                          </a:solidFill>
                          <a:latin typeface="Arial"/>
                        </a:defRPr>
                      </a:pPr>
                      <a:r>
                        <a:t>Hỏi câu chuyện phi y tế</a:t>
                      </a:r>
                    </a:p>
                  </a:txBody>
                  <a:tcPr/>
                </a:tc>
                <a:tc>
                  <a:txBody>
                    <a:bodyPr/>
                    <a:lstStyle/>
                    <a:p>
                      <a:pPr algn="l">
                        <a:defRPr sz="950" b="0">
                          <a:solidFill>
                            <a:srgbClr val="1E293B"/>
                          </a:solidFill>
                          <a:latin typeface="Arial"/>
                        </a:defRPr>
                      </a:pPr>
                      <a:r>
                        <a:t>In-Scope từ chối lịch sự, giữ phạm vi</a:t>
                      </a:r>
                    </a:p>
                  </a:txBody>
                  <a:tcPr/>
                </a:tc>
                <a:tc>
                  <a:txBody>
                    <a:bodyPr/>
                    <a:lstStyle/>
                    <a:p>
                      <a:pPr algn="l">
                        <a:defRPr sz="950" b="1">
                          <a:solidFill>
                            <a:srgbClr val="10B981"/>
                          </a:solidFill>
                          <a:latin typeface="Arial"/>
                        </a:defRPr>
                      </a:pPr>
                      <a:r>
                        <a:t>100% PASS</a:t>
                      </a:r>
                    </a:p>
                  </a:txBody>
                  <a:tcPr/>
                </a:tc>
              </a:tr>
              <a:tr h="287382">
                <a:tc>
                  <a:txBody>
                    <a:bodyPr/>
                    <a:lstStyle/>
                    <a:p>
                      <a:pPr algn="l">
                        <a:defRPr sz="950" b="1">
                          <a:solidFill>
                            <a:srgbClr val="0E387A"/>
                          </a:solidFill>
                          <a:latin typeface="Arial"/>
                        </a:defRPr>
                      </a:pPr>
                      <a:r>
                        <a:t>TEST-05</a:t>
                      </a:r>
                    </a:p>
                  </a:txBody>
                  <a:tcPr/>
                </a:tc>
                <a:tc>
                  <a:txBody>
                    <a:bodyPr/>
                    <a:lstStyle/>
                    <a:p>
                      <a:pPr algn="l">
                        <a:defRPr sz="950" b="0">
                          <a:solidFill>
                            <a:srgbClr val="1E293B"/>
                          </a:solidFill>
                          <a:latin typeface="Arial"/>
                        </a:defRPr>
                      </a:pPr>
                      <a:r>
                        <a:t>Đọc ảnh Sổ tiêm chủng (OCR)</a:t>
                      </a:r>
                    </a:p>
                  </a:txBody>
                  <a:tcPr/>
                </a:tc>
                <a:tc>
                  <a:txBody>
                    <a:bodyPr/>
                    <a:lstStyle/>
                    <a:p>
                      <a:pPr algn="l">
                        <a:defRPr sz="950" b="0">
                          <a:solidFill>
                            <a:srgbClr val="1E293B"/>
                          </a:solidFill>
                          <a:latin typeface="Arial"/>
                        </a:defRPr>
                      </a:pPr>
                      <a:r>
                        <a:t>Trích xuất đúng loại vaccine &amp; ngày tiêm</a:t>
                      </a:r>
                    </a:p>
                  </a:txBody>
                  <a:tcPr/>
                </a:tc>
                <a:tc>
                  <a:txBody>
                    <a:bodyPr/>
                    <a:lstStyle/>
                    <a:p>
                      <a:pPr algn="l">
                        <a:defRPr sz="950" b="1">
                          <a:solidFill>
                            <a:srgbClr val="10B981"/>
                          </a:solidFill>
                          <a:latin typeface="Arial"/>
                        </a:defRPr>
                      </a:pPr>
                      <a:r>
                        <a:t>100% PASS</a:t>
                      </a:r>
                    </a:p>
                  </a:txBody>
                  <a:tcPr/>
                </a:tc>
              </a:tr>
              <a:tr h="287388">
                <a:tc>
                  <a:txBody>
                    <a:bodyPr/>
                    <a:lstStyle/>
                    <a:p>
                      <a:pPr algn="l">
                        <a:defRPr sz="950" b="1">
                          <a:solidFill>
                            <a:srgbClr val="0E387A"/>
                          </a:solidFill>
                          <a:latin typeface="Arial"/>
                        </a:defRPr>
                      </a:pPr>
                      <a:r>
                        <a:t>TEST-06</a:t>
                      </a:r>
                    </a:p>
                  </a:txBody>
                  <a:tcPr/>
                </a:tc>
                <a:tc>
                  <a:txBody>
                    <a:bodyPr/>
                    <a:lstStyle/>
                    <a:p>
                      <a:pPr algn="l">
                        <a:defRPr sz="950" b="0">
                          <a:solidFill>
                            <a:srgbClr val="1E293B"/>
                          </a:solidFill>
                          <a:latin typeface="Arial"/>
                        </a:defRPr>
                      </a:pPr>
                      <a:r>
                        <a:t>Tóm tắt bệnh án nội trú</a:t>
                      </a:r>
                    </a:p>
                  </a:txBody>
                  <a:tcPr/>
                </a:tc>
                <a:tc>
                  <a:txBody>
                    <a:bodyPr/>
                    <a:lstStyle/>
                    <a:p>
                      <a:pPr algn="l">
                        <a:defRPr sz="950" b="0">
                          <a:solidFill>
                            <a:srgbClr val="1E293B"/>
                          </a:solidFill>
                          <a:latin typeface="Arial"/>
                        </a:defRPr>
                      </a:pPr>
                      <a:r>
                        <a:t>AI Care Brief trích xuất đúng chỉ số sinh tồn</a:t>
                      </a:r>
                    </a:p>
                  </a:txBody>
                  <a:tcPr/>
                </a:tc>
                <a:tc>
                  <a:txBody>
                    <a:bodyPr/>
                    <a:lstStyle/>
                    <a:p>
                      <a:pPr algn="l">
                        <a:defRPr sz="950" b="1">
                          <a:solidFill>
                            <a:srgbClr val="10B981"/>
                          </a:solidFill>
                          <a:latin typeface="Arial"/>
                        </a:defRPr>
                      </a:pPr>
                      <a:r>
                        <a:t>100% PASS</a:t>
                      </a:r>
                    </a:p>
                  </a:txBody>
                  <a:tcPr/>
                </a:tc>
              </a:tr>
            </a:tbl>
          </a:graphicData>
        </a:graphic>
      </p:graphicFrame>
      <p:sp>
        <p:nvSpPr>
          <p:cNvPr id="5" name="Rounded Rectangle 4"/>
          <p:cNvSpPr/>
          <p:nvPr/>
        </p:nvSpPr>
        <p:spPr>
          <a:xfrm>
            <a:off x="548640" y="3154680"/>
            <a:ext cx="8046720" cy="9601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D9488"/>
                </a:solidFill>
                <a:latin typeface="Arial"/>
              </a:defRPr>
            </a:pPr>
            <a:r>
              <a:t>Tổng hợp Chỉ số Kỹ thuật &amp; Độ an toàn Y tế:</a:t>
            </a:r>
          </a:p>
          <a:p>
            <a:pPr algn="l">
              <a:spcAft>
                <a:spcPts val="400"/>
              </a:spcAft>
              <a:defRPr sz="1050" b="0">
                <a:solidFill>
                  <a:srgbClr val="1E293B"/>
                </a:solidFill>
                <a:latin typeface="Arial"/>
              </a:defRPr>
            </a:pPr>
            <a:r>
              <a:t>•  Độ trễ trung bình AI: &lt;650ms (Cloud Gemini / Ollama Local) | Tuân thủ 6/6 tiêu chuẩn An toàn Y tế: 100% PASS.</a:t>
            </a:r>
          </a:p>
          <a:p>
            <a:pPr algn="l">
              <a:spcAft>
                <a:spcPts val="400"/>
              </a:spcAft>
              <a:defRPr sz="1050" b="0">
                <a:solidFill>
                  <a:srgbClr val="1E293B"/>
                </a:solidFill>
                <a:latin typeface="Arial"/>
              </a:defRPr>
            </a:pPr>
            <a:r>
              <a:t>•  Kiểm thử hệ thống Backend: 19/19 API Tests PASS | Frontend: 57/57 Next.js Routes biên dịch thành công (0 Lỗi).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1800" b="1">
                <a:solidFill>
                  <a:srgbClr val="0E387A"/>
                </a:solidFill>
                <a:latin typeface="Arial"/>
              </a:defRPr>
            </a:pPr>
            <a:r>
              <a:t>13. Kết luận &amp; Hướng Phát triển Tương lai</a:t>
            </a:r>
          </a:p>
        </p:txBody>
      </p:sp>
      <p:sp>
        <p:nvSpPr>
          <p:cNvPr id="3" name="TextBox 2"/>
          <p:cNvSpPr txBox="1"/>
          <p:nvPr/>
        </p:nvSpPr>
        <p:spPr>
          <a:xfrm>
            <a:off x="548640" y="658368"/>
            <a:ext cx="8046720" cy="256032"/>
          </a:xfrm>
          <a:prstGeom prst="rect">
            <a:avLst/>
          </a:prstGeom>
          <a:noFill/>
        </p:spPr>
        <p:txBody>
          <a:bodyPr wrap="square">
            <a:spAutoFit/>
          </a:bodyPr>
          <a:lstStyle/>
          <a:p>
            <a:pPr algn="l">
              <a:defRPr sz="950" b="1">
                <a:solidFill>
                  <a:srgbClr val="0D9488"/>
                </a:solidFill>
                <a:latin typeface="Arial"/>
              </a:defRPr>
            </a:pPr>
            <a:r>
              <a:t>TỔNG KẾT TOÀN DIỆN ĐỀ TÀI &amp; ĐỊNH HƯỚNG MỞ RỘNG ỨNG DỤNG</a:t>
            </a:r>
          </a:p>
        </p:txBody>
      </p:sp>
      <p:sp>
        <p:nvSpPr>
          <p:cNvPr id="4" name="Rounded Rectangle 3"/>
          <p:cNvSpPr/>
          <p:nvPr/>
        </p:nvSpPr>
        <p:spPr>
          <a:xfrm>
            <a:off x="5486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E387A"/>
                </a:solidFill>
                <a:latin typeface="Arial"/>
              </a:defRPr>
            </a:pPr>
            <a:r>
              <a:t>Kết luận Đề tài</a:t>
            </a:r>
          </a:p>
          <a:p>
            <a:pPr algn="l">
              <a:spcAft>
                <a:spcPts val="400"/>
              </a:spcAft>
              <a:defRPr sz="1050" b="0">
                <a:solidFill>
                  <a:srgbClr val="1E293B"/>
                </a:solidFill>
                <a:latin typeface="Arial"/>
              </a:defRPr>
            </a:pPr>
            <a:r>
              <a:t>•  Hoàn thành toàn diện 100% mục tiêu nghiên cứu đã đăng ký.</a:t>
            </a:r>
          </a:p>
          <a:p>
            <a:pPr algn="l">
              <a:spcAft>
                <a:spcPts val="400"/>
              </a:spcAft>
              <a:defRPr sz="1050" b="0">
                <a:solidFill>
                  <a:srgbClr val="1E293B"/>
                </a:solidFill>
                <a:latin typeface="Arial"/>
              </a:defRPr>
            </a:pPr>
            <a:r>
              <a:t>•  Xây dựng thành công hệ sinh thái Quản lý Phòng khám kết hợp Trợ lý AI.</a:t>
            </a:r>
          </a:p>
          <a:p>
            <a:pPr algn="l">
              <a:spcAft>
                <a:spcPts val="400"/>
              </a:spcAft>
              <a:defRPr sz="1050" b="0">
                <a:solidFill>
                  <a:srgbClr val="1E293B"/>
                </a:solidFill>
                <a:latin typeface="Arial"/>
              </a:defRPr>
            </a:pPr>
            <a:r>
              <a:t>•  Khung an toàn y khoa 3 chốt chặn loại bỏ hoàn toàn nguy cơ dùng thuốc sai cách.</a:t>
            </a:r>
          </a:p>
          <a:p>
            <a:pPr algn="l">
              <a:spcAft>
                <a:spcPts val="400"/>
              </a:spcAft>
              <a:defRPr sz="1050" b="0">
                <a:solidFill>
                  <a:srgbClr val="1E293B"/>
                </a:solidFill>
                <a:latin typeface="Arial"/>
              </a:defRPr>
            </a:pPr>
            <a:r>
              <a:t>•  Sản phẩm đạt độ hoàn thiện cao, sẵn sàng triển khai tại phòng khám thực tế.</a:t>
            </a:r>
          </a:p>
        </p:txBody>
      </p:sp>
      <p:sp>
        <p:nvSpPr>
          <p:cNvPr id="5" name="Rounded Rectangle 4"/>
          <p:cNvSpPr/>
          <p:nvPr/>
        </p:nvSpPr>
        <p:spPr>
          <a:xfrm>
            <a:off x="4663440" y="1005840"/>
            <a:ext cx="3931920" cy="3108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128016"/>
          <a:lstStyle/>
          <a:p>
            <a:pPr algn="l">
              <a:spcAft>
                <a:spcPts val="600"/>
              </a:spcAft>
              <a:defRPr sz="1250" b="1">
                <a:solidFill>
                  <a:srgbClr val="0D9488"/>
                </a:solidFill>
                <a:latin typeface="Arial"/>
              </a:defRPr>
            </a:pPr>
            <a:r>
              <a:t>Định hướng Phát triển Tiếp theo</a:t>
            </a:r>
          </a:p>
          <a:p>
            <a:pPr algn="l">
              <a:spcAft>
                <a:spcPts val="400"/>
              </a:spcAft>
              <a:defRPr sz="1050" b="0">
                <a:solidFill>
                  <a:srgbClr val="1E293B"/>
                </a:solidFill>
                <a:latin typeface="Arial"/>
              </a:defRPr>
            </a:pPr>
            <a:r>
              <a:t>•  Nâng cấp RAG (Retrieval-Augmented Generation) kết hợp Vector DB (Milvus/Qdrant).</a:t>
            </a:r>
          </a:p>
          <a:p>
            <a:pPr algn="l">
              <a:spcAft>
                <a:spcPts val="400"/>
              </a:spcAft>
              <a:defRPr sz="1050" b="0">
                <a:solidFill>
                  <a:srgbClr val="1E293B"/>
                </a:solidFill>
                <a:latin typeface="Arial"/>
              </a:defRPr>
            </a:pPr>
            <a:r>
              <a:t>•  Phát triển ứng dụng Mobile App (React Native / Flutter) cho chủ thú cưng.</a:t>
            </a:r>
          </a:p>
          <a:p>
            <a:pPr algn="l">
              <a:spcAft>
                <a:spcPts val="400"/>
              </a:spcAft>
              <a:defRPr sz="1050" b="0">
                <a:solidFill>
                  <a:srgbClr val="1E293B"/>
                </a:solidFill>
                <a:latin typeface="Arial"/>
              </a:defRPr>
            </a:pPr>
            <a:r>
              <a:t>•  Ứng dụng Computer Vision chuyên sâu chẩn đoán tổn thương da và phim X-quang.</a:t>
            </a:r>
          </a:p>
          <a:p>
            <a:pPr algn="l">
              <a:spcAft>
                <a:spcPts val="400"/>
              </a:spcAft>
              <a:defRPr sz="1050" b="0">
                <a:solidFill>
                  <a:srgbClr val="1E293B"/>
                </a:solidFill>
                <a:latin typeface="Arial"/>
              </a:defRPr>
            </a:pPr>
            <a:r>
              <a:t>•  Kết nối IoT vòng cổ thông minh theo dõi nhịp tim và bước chạy của thú cưng.</a:t>
            </a:r>
          </a:p>
        </p:txBody>
      </p:sp>
    </p:spTree>
  </p:cSld>
  <p:clrMapOvr>
    <a:masterClrMapping/>
  </p:clrMapOvr>
</p:sld>
</file>

<file path=ppt/theme/theme1.xml><?xml version="1.0" encoding="utf-8"?>
<a:theme xmlns:a="http://schemas.openxmlformats.org/drawingml/2006/main" name="mmc_slide_template">
  <a:themeElements>
    <a:clrScheme name="LS3 Scheme">
      <a:dk1>
        <a:srgbClr val="000000"/>
      </a:dk1>
      <a:lt1>
        <a:srgbClr val="FFFFFF"/>
      </a:lt1>
      <a:dk2>
        <a:srgbClr val="000000"/>
      </a:dk2>
      <a:lt2>
        <a:srgbClr val="969696"/>
      </a:lt2>
      <a:accent1>
        <a:srgbClr val="063D79"/>
      </a:accent1>
      <a:accent2>
        <a:srgbClr val="B92700"/>
      </a:accent2>
      <a:accent3>
        <a:srgbClr val="008439"/>
      </a:accent3>
      <a:accent4>
        <a:srgbClr val="B97000"/>
      </a:accent4>
      <a:accent5>
        <a:srgbClr val="D8DADC"/>
      </a:accent5>
      <a:accent6>
        <a:srgbClr val="3F3F3F"/>
      </a:accent6>
      <a:hlink>
        <a:srgbClr val="063D79"/>
      </a:hlink>
      <a:folHlink>
        <a:srgbClr val="D8DADC"/>
      </a:folHlink>
    </a:clrScheme>
    <a:fontScheme name="Vorlag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600" b="1" i="0" u="none" strike="noStrike" cap="none" normalizeH="0" baseline="0" dirty="0" smtClean="0">
            <a:ln>
              <a:noFill/>
            </a:ln>
            <a:solidFill>
              <a:schemeClr val="tx1"/>
            </a:solidFill>
            <a:effectLst/>
            <a:latin typeface="+mn-lt"/>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Rounded MT Bold" pitchFamily="34" charset="0"/>
          </a:defRPr>
        </a:defPPr>
      </a:lstStyle>
    </a:lnDef>
    <a:txDef>
      <a:spPr>
        <a:noFill/>
      </a:spPr>
      <a:bodyPr wrap="square" rtlCol="0">
        <a:spAutoFit/>
      </a:bodyPr>
      <a:lstStyle>
        <a:defPPr>
          <a:defRPr sz="1600" b="0" dirty="0" err="1" smtClean="0">
            <a:latin typeface="+mn-lt"/>
          </a:defRPr>
        </a:defPPr>
      </a:lstStyle>
    </a:txDef>
  </a:objectDefaults>
  <a:extraClrSchemeLst>
    <a:extraClrScheme>
      <a:clrScheme name="Vorlag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Vorlag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Vorlage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Vorlage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Vorlage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Vorlage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Vorlage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äsentation1" id="{639762E9-692F-4C04-81D7-89056E7DD7FB}" vid="{0EDAB05A-F13C-4C86-9B45-9C11FD583B4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mmc_slide_template</Template>
  <TotalTime>531</TotalTime>
  <Words>0</Words>
  <Application>Microsoft Office PowerPoint</Application>
  <PresentationFormat>On-screen Show (16:9)</PresentationFormat>
  <Paragraphs>0</Paragraphs>
  <Slides>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Arial Rounded MT Bold</vt:lpstr>
      <vt:lpstr>Roboto</vt:lpstr>
      <vt:lpstr>Times New Roman</vt:lpstr>
      <vt:lpstr>Wingdings</vt:lpstr>
      <vt:lpstr>Wingdings 3</vt:lpstr>
      <vt:lpstr>mmc_slide_template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dxlam</dc:creator>
  <cp:lastModifiedBy>Ninh Ha</cp:lastModifiedBy>
  <cp:revision>22</cp:revision>
  <dcterms:created xsi:type="dcterms:W3CDTF">2019-07-17T01:43:07Z</dcterms:created>
  <dcterms:modified xsi:type="dcterms:W3CDTF">2026-01-28T01:19:24Z</dcterms:modified>
</cp:coreProperties>
</file>