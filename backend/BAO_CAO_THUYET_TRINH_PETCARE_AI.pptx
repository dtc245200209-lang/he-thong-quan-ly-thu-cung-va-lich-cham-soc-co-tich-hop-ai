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
  </p:notesMasterIdLst>
  <p:handoutMasterIdLst>
    <p:handoutMasterId r:id="rId5"/>
  </p:handoutMasterIdLst>
  <p:sldIdLst>
    <p:sldId id="256" r:id="rId2"/>
    <p:sldId id="257" r:id="rId3"/>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x="9144000" cy="5143500" type="screen16x9"/>
  <p:notesSz cx="6797675" cy="9928225"/>
  <p:defaultTextStyle>
    <a:defPPr>
      <a:defRPr lang="en-US"/>
    </a:defPPr>
    <a:lvl1pPr algn="l" rtl="0" eaLnBrk="0" fontAlgn="base" hangingPunct="0">
      <a:spcBef>
        <a:spcPct val="0"/>
      </a:spcBef>
      <a:spcAft>
        <a:spcPct val="0"/>
      </a:spcAft>
      <a:defRPr sz="1400" b="1" kern="1200">
        <a:solidFill>
          <a:schemeClr val="tx1"/>
        </a:solidFill>
        <a:latin typeface="Arial Rounded MT Bold"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5pPr>
    <a:lvl6pPr marL="2286000" algn="l" defTabSz="914400" rtl="0" eaLnBrk="1" latinLnBrk="0" hangingPunct="1">
      <a:defRPr sz="1400" b="1" kern="1200">
        <a:solidFill>
          <a:schemeClr val="tx1"/>
        </a:solidFill>
        <a:latin typeface="Arial Rounded MT Bold" pitchFamily="34" charset="0"/>
        <a:ea typeface="+mn-ea"/>
        <a:cs typeface="+mn-cs"/>
      </a:defRPr>
    </a:lvl6pPr>
    <a:lvl7pPr marL="2743200" algn="l" defTabSz="914400" rtl="0" eaLnBrk="1" latinLnBrk="0" hangingPunct="1">
      <a:defRPr sz="1400" b="1" kern="1200">
        <a:solidFill>
          <a:schemeClr val="tx1"/>
        </a:solidFill>
        <a:latin typeface="Arial Rounded MT Bold" pitchFamily="34" charset="0"/>
        <a:ea typeface="+mn-ea"/>
        <a:cs typeface="+mn-cs"/>
      </a:defRPr>
    </a:lvl7pPr>
    <a:lvl8pPr marL="3200400" algn="l" defTabSz="914400" rtl="0" eaLnBrk="1" latinLnBrk="0" hangingPunct="1">
      <a:defRPr sz="1400" b="1" kern="1200">
        <a:solidFill>
          <a:schemeClr val="tx1"/>
        </a:solidFill>
        <a:latin typeface="Arial Rounded MT Bold" pitchFamily="34" charset="0"/>
        <a:ea typeface="+mn-ea"/>
        <a:cs typeface="+mn-cs"/>
      </a:defRPr>
    </a:lvl8pPr>
    <a:lvl9pPr marL="3657600" algn="l" defTabSz="914400" rtl="0" eaLnBrk="1" latinLnBrk="0" hangingPunct="1">
      <a:defRPr sz="1400" b="1" kern="1200">
        <a:solidFill>
          <a:schemeClr val="tx1"/>
        </a:solidFill>
        <a:latin typeface="Arial Rounded MT Bold"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8A8A8A"/>
    <a:srgbClr val="B97000"/>
    <a:srgbClr val="008439"/>
    <a:srgbClr val="B92700"/>
    <a:srgbClr val="66FF33"/>
    <a:srgbClr val="008000"/>
    <a:srgbClr val="FFFFFF"/>
    <a:srgbClr val="CC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87651" autoAdjust="0"/>
  </p:normalViewPr>
  <p:slideViewPr>
    <p:cSldViewPr>
      <p:cViewPr varScale="1">
        <p:scale>
          <a:sx n="128" d="100"/>
          <a:sy n="128" d="100"/>
        </p:scale>
        <p:origin x="996" y="90"/>
      </p:cViewPr>
      <p:guideLst>
        <p:guide orient="horz" pos="2160"/>
        <p:guide pos="2880"/>
        <p:guide orient="horz" pos="1620"/>
      </p:guideLst>
    </p:cSldViewPr>
  </p:slideViewPr>
  <p:notesTextViewPr>
    <p:cViewPr>
      <p:scale>
        <a:sx n="100" d="100"/>
        <a:sy n="100" d="100"/>
      </p:scale>
      <p:origin x="0" y="0"/>
    </p:cViewPr>
  </p:notesTextViewPr>
  <p:notesViewPr>
    <p:cSldViewPr>
      <p:cViewPr varScale="1">
        <p:scale>
          <a:sx n="71" d="100"/>
          <a:sy n="71" d="100"/>
        </p:scale>
        <p:origin x="-2238"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handoutMaster" Target="handoutMasters/handout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h Ha" userId="dad4f241114e7651" providerId="LiveId" clId="{1A078304-D878-4927-BFEB-13DAA3ADEB16}"/>
    <pc:docChg chg="addSld delSld">
      <pc:chgData name="Ninh Ha" userId="dad4f241114e7651" providerId="LiveId" clId="{1A078304-D878-4927-BFEB-13DAA3ADEB16}" dt="2026-01-28T01:19:23.485" v="6" actId="47"/>
      <pc:docMkLst>
        <pc:docMk/>
      </pc:docMkLst>
      <pc:sldChg chg="new">
        <pc:chgData name="Ninh Ha" userId="dad4f241114e7651" providerId="LiveId" clId="{1A078304-D878-4927-BFEB-13DAA3ADEB16}" dt="2026-01-28T01:19:02.048" v="1" actId="680"/>
        <pc:sldMkLst>
          <pc:docMk/>
          <pc:sldMk cId="1849589283" sldId="256"/>
        </pc:sldMkLst>
      </pc:sldChg>
      <pc:sldChg chg="new">
        <pc:chgData name="Ninh Ha" userId="dad4f241114e7651" providerId="LiveId" clId="{1A078304-D878-4927-BFEB-13DAA3ADEB16}" dt="2026-01-28T01:19:13.485" v="2" actId="680"/>
        <pc:sldMkLst>
          <pc:docMk/>
          <pc:sldMk cId="3090518707" sldId="257"/>
        </pc:sldMkLst>
      </pc:sldChg>
      <pc:sldChg chg="new del">
        <pc:chgData name="Ninh Ha" userId="dad4f241114e7651" providerId="LiveId" clId="{1A078304-D878-4927-BFEB-13DAA3ADEB16}" dt="2026-01-28T01:19:23.485" v="6" actId="47"/>
        <pc:sldMkLst>
          <pc:docMk/>
          <pc:sldMk cId="4009970504" sldId="258"/>
        </pc:sldMkLst>
      </pc:sldChg>
      <pc:sldChg chg="new del">
        <pc:chgData name="Ninh Ha" userId="dad4f241114e7651" providerId="LiveId" clId="{1A078304-D878-4927-BFEB-13DAA3ADEB16}" dt="2026-01-28T01:19:23.485" v="6" actId="47"/>
        <pc:sldMkLst>
          <pc:docMk/>
          <pc:sldMk cId="2667065242" sldId="259"/>
        </pc:sldMkLst>
      </pc:sldChg>
      <pc:sldChg chg="new del">
        <pc:chgData name="Ninh Ha" userId="dad4f241114e7651" providerId="LiveId" clId="{1A078304-D878-4927-BFEB-13DAA3ADEB16}" dt="2026-01-28T01:19:23.485" v="6" actId="47"/>
        <pc:sldMkLst>
          <pc:docMk/>
          <pc:sldMk cId="2880964486" sldId="260"/>
        </pc:sldMkLst>
      </pc:sldChg>
      <pc:sldChg chg="del">
        <pc:chgData name="Ninh Ha" userId="dad4f241114e7651" providerId="LiveId" clId="{1A078304-D878-4927-BFEB-13DAA3ADEB16}" dt="2026-01-28T01:19:00.314" v="0" actId="47"/>
        <pc:sldMkLst>
          <pc:docMk/>
          <pc:sldMk cId="0" sldId="290"/>
        </pc:sldMkLst>
      </pc:sldChg>
      <pc:sldChg chg="del">
        <pc:chgData name="Ninh Ha" userId="dad4f241114e7651" providerId="LiveId" clId="{1A078304-D878-4927-BFEB-13DAA3ADEB16}" dt="2026-01-28T01:19:00.314" v="0" actId="47"/>
        <pc:sldMkLst>
          <pc:docMk/>
          <pc:sldMk cId="3761276656" sldId="291"/>
        </pc:sldMkLst>
      </pc:sldChg>
      <pc:sldChg chg="del">
        <pc:chgData name="Ninh Ha" userId="dad4f241114e7651" providerId="LiveId" clId="{1A078304-D878-4927-BFEB-13DAA3ADEB16}" dt="2026-01-28T01:19:00.314" v="0" actId="47"/>
        <pc:sldMkLst>
          <pc:docMk/>
          <pc:sldMk cId="2648601283" sldId="292"/>
        </pc:sldMkLst>
      </pc:sldChg>
      <pc:sldChg chg="del">
        <pc:chgData name="Ninh Ha" userId="dad4f241114e7651" providerId="LiveId" clId="{1A078304-D878-4927-BFEB-13DAA3ADEB16}" dt="2026-01-28T01:19:00.314" v="0" actId="47"/>
        <pc:sldMkLst>
          <pc:docMk/>
          <pc:sldMk cId="4245689439" sldId="293"/>
        </pc:sldMkLst>
      </pc:sldChg>
      <pc:sldChg chg="del">
        <pc:chgData name="Ninh Ha" userId="dad4f241114e7651" providerId="LiveId" clId="{1A078304-D878-4927-BFEB-13DAA3ADEB16}" dt="2026-01-28T01:19:00.314" v="0" actId="47"/>
        <pc:sldMkLst>
          <pc:docMk/>
          <pc:sldMk cId="2819364464" sldId="294"/>
        </pc:sldMkLst>
      </pc:sldChg>
      <pc:sldChg chg="del">
        <pc:chgData name="Ninh Ha" userId="dad4f241114e7651" providerId="LiveId" clId="{1A078304-D878-4927-BFEB-13DAA3ADEB16}" dt="2026-01-28T01:19:00.314" v="0" actId="47"/>
        <pc:sldMkLst>
          <pc:docMk/>
          <pc:sldMk cId="2097295069" sldId="307"/>
        </pc:sldMkLst>
      </pc:sldChg>
      <pc:sldChg chg="del">
        <pc:chgData name="Ninh Ha" userId="dad4f241114e7651" providerId="LiveId" clId="{1A078304-D878-4927-BFEB-13DAA3ADEB16}" dt="2026-01-28T01:19:00.314" v="0" actId="47"/>
        <pc:sldMkLst>
          <pc:docMk/>
          <pc:sldMk cId="0" sldId="309"/>
        </pc:sldMkLst>
      </pc:sldChg>
      <pc:sldChg chg="del">
        <pc:chgData name="Ninh Ha" userId="dad4f241114e7651" providerId="LiveId" clId="{1A078304-D878-4927-BFEB-13DAA3ADEB16}" dt="2026-01-28T01:19:00.314" v="0" actId="47"/>
        <pc:sldMkLst>
          <pc:docMk/>
          <pc:sldMk cId="4176954898" sldId="310"/>
        </pc:sldMkLst>
      </pc:sldChg>
      <pc:sldChg chg="del">
        <pc:chgData name="Ninh Ha" userId="dad4f241114e7651" providerId="LiveId" clId="{1A078304-D878-4927-BFEB-13DAA3ADEB16}" dt="2026-01-28T01:19:00.314" v="0" actId="47"/>
        <pc:sldMkLst>
          <pc:docMk/>
          <pc:sldMk cId="1439018987" sldId="311"/>
        </pc:sldMkLst>
      </pc:sldChg>
      <pc:sldChg chg="del">
        <pc:chgData name="Ninh Ha" userId="dad4f241114e7651" providerId="LiveId" clId="{1A078304-D878-4927-BFEB-13DAA3ADEB16}" dt="2026-01-28T01:19:00.314" v="0" actId="47"/>
        <pc:sldMkLst>
          <pc:docMk/>
          <pc:sldMk cId="907185442" sldId="312"/>
        </pc:sldMkLst>
      </pc:sldChg>
      <pc:sldChg chg="del">
        <pc:chgData name="Ninh Ha" userId="dad4f241114e7651" providerId="LiveId" clId="{1A078304-D878-4927-BFEB-13DAA3ADEB16}" dt="2026-01-28T01:19:00.314" v="0" actId="47"/>
        <pc:sldMkLst>
          <pc:docMk/>
          <pc:sldMk cId="491701559" sldId="313"/>
        </pc:sldMkLst>
      </pc:sldChg>
      <pc:sldChg chg="del">
        <pc:chgData name="Ninh Ha" userId="dad4f241114e7651" providerId="LiveId" clId="{1A078304-D878-4927-BFEB-13DAA3ADEB16}" dt="2026-01-28T01:19:00.314" v="0" actId="47"/>
        <pc:sldMkLst>
          <pc:docMk/>
          <pc:sldMk cId="3525104212" sldId="314"/>
        </pc:sldMkLst>
      </pc:sldChg>
      <pc:sldChg chg="del">
        <pc:chgData name="Ninh Ha" userId="dad4f241114e7651" providerId="LiveId" clId="{1A078304-D878-4927-BFEB-13DAA3ADEB16}" dt="2026-01-28T01:19:00.314" v="0" actId="47"/>
        <pc:sldMkLst>
          <pc:docMk/>
          <pc:sldMk cId="184509160" sldId="316"/>
        </pc:sldMkLst>
      </pc:sldChg>
      <pc:sldChg chg="del">
        <pc:chgData name="Ninh Ha" userId="dad4f241114e7651" providerId="LiveId" clId="{1A078304-D878-4927-BFEB-13DAA3ADEB16}" dt="2026-01-28T01:19:00.314" v="0" actId="47"/>
        <pc:sldMkLst>
          <pc:docMk/>
          <pc:sldMk cId="1016060856" sldId="317"/>
        </pc:sldMkLst>
      </pc:sldChg>
      <pc:sldChg chg="del">
        <pc:chgData name="Ninh Ha" userId="dad4f241114e7651" providerId="LiveId" clId="{1A078304-D878-4927-BFEB-13DAA3ADEB16}" dt="2026-01-28T01:19:00.314" v="0" actId="47"/>
        <pc:sldMkLst>
          <pc:docMk/>
          <pc:sldMk cId="2758650107" sldId="318"/>
        </pc:sldMkLst>
      </pc:sldChg>
      <pc:sldChg chg="del">
        <pc:chgData name="Ninh Ha" userId="dad4f241114e7651" providerId="LiveId" clId="{1A078304-D878-4927-BFEB-13DAA3ADEB16}" dt="2026-01-28T01:19:00.314" v="0" actId="47"/>
        <pc:sldMkLst>
          <pc:docMk/>
          <pc:sldMk cId="417996544" sldId="319"/>
        </pc:sldMkLst>
      </pc:sldChg>
      <pc:sldChg chg="del">
        <pc:chgData name="Ninh Ha" userId="dad4f241114e7651" providerId="LiveId" clId="{1A078304-D878-4927-BFEB-13DAA3ADEB16}" dt="2026-01-28T01:19:00.314" v="0" actId="47"/>
        <pc:sldMkLst>
          <pc:docMk/>
          <pc:sldMk cId="1716680550" sldId="320"/>
        </pc:sldMkLst>
      </pc:sldChg>
      <pc:sldChg chg="del">
        <pc:chgData name="Ninh Ha" userId="dad4f241114e7651" providerId="LiveId" clId="{1A078304-D878-4927-BFEB-13DAA3ADEB16}" dt="2026-01-28T01:19:00.314" v="0" actId="47"/>
        <pc:sldMkLst>
          <pc:docMk/>
          <pc:sldMk cId="2674707570" sldId="321"/>
        </pc:sldMkLst>
      </pc:sldChg>
      <pc:sldChg chg="del">
        <pc:chgData name="Ninh Ha" userId="dad4f241114e7651" providerId="LiveId" clId="{1A078304-D878-4927-BFEB-13DAA3ADEB16}" dt="2026-01-28T01:19:00.314" v="0" actId="47"/>
        <pc:sldMkLst>
          <pc:docMk/>
          <pc:sldMk cId="1686896523" sldId="322"/>
        </pc:sldMkLst>
      </pc:sldChg>
      <pc:sldChg chg="del">
        <pc:chgData name="Ninh Ha" userId="dad4f241114e7651" providerId="LiveId" clId="{1A078304-D878-4927-BFEB-13DAA3ADEB16}" dt="2026-01-28T01:19:00.314" v="0" actId="47"/>
        <pc:sldMkLst>
          <pc:docMk/>
          <pc:sldMk cId="433239683" sldId="323"/>
        </pc:sldMkLst>
      </pc:sldChg>
      <pc:sldChg chg="del">
        <pc:chgData name="Ninh Ha" userId="dad4f241114e7651" providerId="LiveId" clId="{1A078304-D878-4927-BFEB-13DAA3ADEB16}" dt="2026-01-28T01:19:00.314" v="0" actId="47"/>
        <pc:sldMkLst>
          <pc:docMk/>
          <pc:sldMk cId="16137316" sldId="324"/>
        </pc:sldMkLst>
      </pc:sldChg>
      <pc:sldChg chg="del">
        <pc:chgData name="Ninh Ha" userId="dad4f241114e7651" providerId="LiveId" clId="{1A078304-D878-4927-BFEB-13DAA3ADEB16}" dt="2026-01-28T01:19:00.314" v="0" actId="47"/>
        <pc:sldMkLst>
          <pc:docMk/>
          <pc:sldMk cId="3785835061" sldId="325"/>
        </pc:sldMkLst>
      </pc:sldChg>
      <pc:sldChg chg="del">
        <pc:chgData name="Ninh Ha" userId="dad4f241114e7651" providerId="LiveId" clId="{1A078304-D878-4927-BFEB-13DAA3ADEB16}" dt="2026-01-28T01:19:00.314" v="0" actId="47"/>
        <pc:sldMkLst>
          <pc:docMk/>
          <pc:sldMk cId="2370594209" sldId="326"/>
        </pc:sldMkLst>
      </pc:sldChg>
      <pc:sldChg chg="del">
        <pc:chgData name="Ninh Ha" userId="dad4f241114e7651" providerId="LiveId" clId="{1A078304-D878-4927-BFEB-13DAA3ADEB16}" dt="2026-01-28T01:19:00.314" v="0" actId="47"/>
        <pc:sldMkLst>
          <pc:docMk/>
          <pc:sldMk cId="3727438753" sldId="3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3346"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313347"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endParaRPr lang="en-US"/>
          </a:p>
        </p:txBody>
      </p:sp>
      <p:sp>
        <p:nvSpPr>
          <p:cNvPr id="313348"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313349"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itchFamily="18" charset="0"/>
              </a:defRPr>
            </a:lvl1pPr>
          </a:lstStyle>
          <a:p>
            <a:fld id="{66D17C0D-3159-464E-A332-7C83698A29E4}" type="slidenum">
              <a:rPr lang="en-US"/>
              <a:pPr/>
              <a:t>‹#›</a:t>
            </a:fld>
            <a:endParaRPr lang="en-US"/>
          </a:p>
        </p:txBody>
      </p:sp>
    </p:spTree>
    <p:extLst>
      <p:ext uri="{BB962C8B-B14F-4D97-AF65-F5344CB8AC3E}">
        <p14:creationId xmlns:p14="http://schemas.microsoft.com/office/powerpoint/2010/main" val="197854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6400" cy="495300"/>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lvl1pPr defTabSz="955675" eaLnBrk="1" hangingPunct="1">
              <a:defRPr sz="1300" b="0">
                <a:latin typeface="Times New Roman" pitchFamily="18" charset="0"/>
              </a:defRPr>
            </a:lvl1pPr>
          </a:lstStyle>
          <a:p>
            <a:endParaRPr lang="en-US"/>
          </a:p>
        </p:txBody>
      </p:sp>
      <p:sp>
        <p:nvSpPr>
          <p:cNvPr id="4099" name="Rectangle 3"/>
          <p:cNvSpPr>
            <a:spLocks noGrp="1" noChangeArrowheads="1"/>
          </p:cNvSpPr>
          <p:nvPr>
            <p:ph type="dt" idx="1"/>
          </p:nvPr>
        </p:nvSpPr>
        <p:spPr bwMode="auto">
          <a:xfrm>
            <a:off x="3851275" y="0"/>
            <a:ext cx="2946400" cy="495300"/>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lvl1pPr algn="r" defTabSz="955675" eaLnBrk="1" hangingPunct="1">
              <a:defRPr sz="1300" b="0">
                <a:latin typeface="Times New Roman" pitchFamily="18" charset="0"/>
              </a:defRPr>
            </a:lvl1pPr>
          </a:lstStyle>
          <a:p>
            <a:endParaRPr lang="en-US"/>
          </a:p>
        </p:txBody>
      </p:sp>
      <p:sp>
        <p:nvSpPr>
          <p:cNvPr id="4100" name="Rectangle 4"/>
          <p:cNvSpPr>
            <a:spLocks noGrp="1" noRot="1" noChangeAspect="1" noChangeArrowheads="1" noTextEdit="1"/>
          </p:cNvSpPr>
          <p:nvPr>
            <p:ph type="sldImg" idx="2"/>
          </p:nvPr>
        </p:nvSpPr>
        <p:spPr bwMode="auto">
          <a:xfrm>
            <a:off x="92075" y="746125"/>
            <a:ext cx="6615113" cy="37211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p>
            <a:pPr lvl="0"/>
            <a:r>
              <a:rPr lang="en-US"/>
              <a:t>Klicken Sie, um die Formate des Vorlagentextes zu bearbeiten</a:t>
            </a:r>
          </a:p>
          <a:p>
            <a:pPr lvl="1"/>
            <a:r>
              <a:rPr lang="en-US"/>
              <a:t>Zweite Ebene</a:t>
            </a:r>
          </a:p>
          <a:p>
            <a:pPr lvl="2"/>
            <a:r>
              <a:rPr lang="en-US"/>
              <a:t>Dritte Ebene</a:t>
            </a:r>
          </a:p>
          <a:p>
            <a:pPr lvl="3"/>
            <a:r>
              <a:rPr lang="en-US"/>
              <a:t>Vierte Ebene</a:t>
            </a:r>
          </a:p>
          <a:p>
            <a:pPr lvl="4"/>
            <a:r>
              <a:rPr lang="en-US"/>
              <a:t>Fünfte Ebene</a:t>
            </a:r>
          </a:p>
        </p:txBody>
      </p:sp>
      <p:sp>
        <p:nvSpPr>
          <p:cNvPr id="4102" name="Rectangle 6"/>
          <p:cNvSpPr>
            <a:spLocks noGrp="1" noChangeArrowheads="1"/>
          </p:cNvSpPr>
          <p:nvPr>
            <p:ph type="ftr" sz="quarter" idx="4"/>
          </p:nvPr>
        </p:nvSpPr>
        <p:spPr bwMode="auto">
          <a:xfrm>
            <a:off x="0" y="9432925"/>
            <a:ext cx="2946400" cy="495300"/>
          </a:xfrm>
          <a:prstGeom prst="rect">
            <a:avLst/>
          </a:prstGeom>
          <a:noFill/>
          <a:ln w="9525">
            <a:noFill/>
            <a:miter lim="800000"/>
            <a:headEnd/>
            <a:tailEnd/>
          </a:ln>
          <a:effectLst/>
        </p:spPr>
        <p:txBody>
          <a:bodyPr vert="horz" wrap="square" lIns="95571" tIns="47786" rIns="95571" bIns="47786" numCol="1" anchor="b" anchorCtr="0" compatLnSpc="1">
            <a:prstTxWarp prst="textNoShape">
              <a:avLst/>
            </a:prstTxWarp>
          </a:bodyPr>
          <a:lstStyle>
            <a:lvl1pPr defTabSz="955675" eaLnBrk="1" hangingPunct="1">
              <a:defRPr sz="1300" b="0">
                <a:latin typeface="Times New Roman" pitchFamily="18" charset="0"/>
              </a:defRPr>
            </a:lvl1pPr>
          </a:lstStyle>
          <a:p>
            <a:endParaRPr lang="en-US"/>
          </a:p>
        </p:txBody>
      </p:sp>
      <p:sp>
        <p:nvSpPr>
          <p:cNvPr id="4103" name="Rectangle 7"/>
          <p:cNvSpPr>
            <a:spLocks noGrp="1" noChangeArrowheads="1"/>
          </p:cNvSpPr>
          <p:nvPr>
            <p:ph type="sldNum" sz="quarter" idx="5"/>
          </p:nvPr>
        </p:nvSpPr>
        <p:spPr bwMode="auto">
          <a:xfrm>
            <a:off x="3851275" y="9432925"/>
            <a:ext cx="2946400" cy="495300"/>
          </a:xfrm>
          <a:prstGeom prst="rect">
            <a:avLst/>
          </a:prstGeom>
          <a:noFill/>
          <a:ln w="9525">
            <a:noFill/>
            <a:miter lim="800000"/>
            <a:headEnd/>
            <a:tailEnd/>
          </a:ln>
          <a:effectLst/>
        </p:spPr>
        <p:txBody>
          <a:bodyPr vert="horz" wrap="square" lIns="95571" tIns="47786" rIns="95571" bIns="47786" numCol="1" anchor="b" anchorCtr="0" compatLnSpc="1">
            <a:prstTxWarp prst="textNoShape">
              <a:avLst/>
            </a:prstTxWarp>
          </a:bodyPr>
          <a:lstStyle>
            <a:lvl1pPr algn="r" defTabSz="955675" eaLnBrk="1" hangingPunct="1">
              <a:defRPr sz="1300" b="0">
                <a:latin typeface="Times New Roman" pitchFamily="18" charset="0"/>
              </a:defRPr>
            </a:lvl1pPr>
          </a:lstStyle>
          <a:p>
            <a:fld id="{412C2970-D838-4E16-9F7E-5362C8D6E639}" type="slidenum">
              <a:rPr lang="en-US"/>
              <a:pPr/>
              <a:t>‹#›</a:t>
            </a:fld>
            <a:endParaRPr lang="en-US"/>
          </a:p>
        </p:txBody>
      </p:sp>
    </p:spTree>
    <p:extLst>
      <p:ext uri="{BB962C8B-B14F-4D97-AF65-F5344CB8AC3E}">
        <p14:creationId xmlns:p14="http://schemas.microsoft.com/office/powerpoint/2010/main" val="366822148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trong Hội đồng và Giảng viên hướng dẫn TS. Trần Quang Quý, hôm nay nhóm chúng em xin được báo cáo đề tài: 'Xây dựng Hệ thống quản lý thú cưng và lịch chăm sóc có tích hợp AI'. Hệ thống được phát triển nhằm giải quyết trọn vẹn nhu cầu quản lý của phòng khám thú y và hỗ trợ chăm sóc sức khỏe thú cưng cho khách hàng 24/7.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Lý do chọn đề tài xuất phát từ việc người nuôi thú cưng ngày càng đông, nhưng khi thú cưng ốm thì chủ nuôi rất lo lắng và thiếu kiến thức sơ cứu. Về phía phòng khám, các bác sĩ thường quá tải vì phải trả lời các câu hỏi chăm sóc quen thuộc và sổ tiêm bằng giấy rất dễ thất lạc. Vì vậy, chúng em xây dựng phần mềm này để số hóa toàn diện quy trình và đưa Trợ lý AI vào hỗ trợ.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là tạo ra một phần mềm dễ dùng cho 5 nhóm người: Khách hàng, Bác sĩ, Lễ tân, Điều dưỡng và Quản lý. AI chỉ đóng vai trò hướng dẫn chăm sóc ban đầu, tuyệt đối không tự ý kê đơn thuốc để đảm bảo an toàn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sử dụng mô hình ngôn ngữ lớn để hiểu câu hỏi của chủ nuôi và công nghệ đọc ảnh (OCR) để tự động nhận dạng sổ tiêm phòng. Khi nhận câu hỏi, hệ thống tự động đưa tên, tuổi, giống loài của bé cưng vào để câu trả lời chính xác nhất.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tránh việc AI tư vấn sai gây nguy hiểm cho thú cưng, chúng em thiết kế 3 lớp bảo vệ tự động: Lớp 1 chỉ cho phép nói về thú y; Lớp 2 báo động đỏ khi có dấu hiệu nguy kịch; Lớp 3 nghiêm cấm kê đơn thuốc bừa bãi.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hệ thống gồm 4 tầng rất trực quan: Tầng người dùng gồm 5 đối tượng; Tầng giao diện trên web và điện thoại; Tầng máy chủ xử lý kết hợp bộ não AI; và Tầng cơ sở dữ liệu lưu trữ trọn đời hồ sơ thú cưng.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sở dữ liệu được chia làm 5 nhóm gọn gàng, từ quản lý tài khoản, hồ sơ sổ tiêm, khám chữa bệnh cho đến điều trị nội trú và thanh toán hóa đơn.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diện phân hệ Khách hàng cho phép chủ nuôi trò chuyện trực tiếp với Trợ lý AI, tra cứu sổ tiêm phòng điện tử và quản lý thẻ mã QR khẩn cấp đeo trên cổ thú cưng.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Bác sĩ có thể nhập bệnh án nhanh chóng trên máy tính, kê đơn thuốc tự động có kiểm tra tồn kho và gọi video khám từ xa trực tiếp với gia chủ khi không thể đến viện.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Lễ tân có thể tiếp đón khách chỉ trong 30 giây bằng số điện thoại hoặc mã hẹn trước. Sau khi khám xong, hệ thống tự động tạo mã VietQR có sẵn số tiền để khách hàng quét trả tiền nhanh gọn.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Điều dưỡng cập nhật nhiệt độ, bữa ăn, dịch truyền theo ca trực. Điểm đặc biệt là tính năng AI Care Brief tự động gom toàn bộ ghi chép cả ngày thành bản tóm tắt 30 giây giúp bác sĩ giao ban cực nhanh.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dành cho Quản lý giúp phân quyền nhân viên, quản lý xuất nhập kho thuốc và theo dõi biểu đồ doanh thu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đã thử nghiệm hệ thống qua 6 tình huống thực tế thường gặp nhất. Kết quả cho thấy AI trả lời rất an toàn, không có lỗi kê đơn thuốc bậy và tốc độ phản hồi cực nhanh dưới 1 giây.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đã hoàn thành xuất sắc các mục tiêu đề ra. Sản phẩm thực tế chạy mượt mà, giải quyết được bài toán quá tải của phòng khám và hỗ trợ chăm sóc thú cưng chu đáo. Chúng em xin chân thành cảm ơn Thầy và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94" y="2946"/>
            <a:ext cx="9147480" cy="5144853"/>
          </a:xfrm>
          <a:prstGeom prst="rect">
            <a:avLst/>
          </a:prstGeom>
        </p:spPr>
      </p:pic>
      <p:sp>
        <p:nvSpPr>
          <p:cNvPr id="181250" name="Rectangle 2"/>
          <p:cNvSpPr>
            <a:spLocks noGrp="1" noChangeArrowheads="1"/>
          </p:cNvSpPr>
          <p:nvPr>
            <p:ph type="ctrTitle" sz="quarter" hasCustomPrompt="1"/>
          </p:nvPr>
        </p:nvSpPr>
        <p:spPr>
          <a:xfrm>
            <a:off x="366714" y="1470422"/>
            <a:ext cx="8410575" cy="1371600"/>
          </a:xfrm>
          <a:noFill/>
        </p:spPr>
        <p:txBody>
          <a:bodyPr/>
          <a:lstStyle>
            <a:lvl1pPr>
              <a:defRPr lang="en-GB" sz="4000" b="0" i="0" baseline="0" dirty="0">
                <a:solidFill>
                  <a:srgbClr val="063D79"/>
                </a:solidFill>
                <a:effectLst/>
                <a:latin typeface="+mn-lt"/>
                <a:ea typeface="+mj-ea"/>
                <a:cs typeface="+mj-cs"/>
              </a:defRPr>
            </a:lvl1pPr>
          </a:lstStyle>
          <a:p>
            <a:pPr fontAlgn="t"/>
            <a:r>
              <a:rPr lang="de-DE"/>
              <a:t>Click vào đây để chỉnh sửa tiêu đề</a:t>
            </a:r>
            <a:br>
              <a:rPr lang="vi-VN" b="0" i="0">
                <a:solidFill>
                  <a:srgbClr val="777777"/>
                </a:solidFill>
                <a:effectLst/>
                <a:latin typeface="Roboto"/>
              </a:rPr>
            </a:br>
            <a:endParaRPr lang="en-GB" dirty="0"/>
          </a:p>
        </p:txBody>
      </p:sp>
      <p:sp>
        <p:nvSpPr>
          <p:cNvPr id="181253" name="Rectangle 5"/>
          <p:cNvSpPr>
            <a:spLocks noGrp="1" noChangeArrowheads="1"/>
          </p:cNvSpPr>
          <p:nvPr>
            <p:ph type="subTitle" sz="quarter" idx="1" hasCustomPrompt="1"/>
          </p:nvPr>
        </p:nvSpPr>
        <p:spPr>
          <a:xfrm>
            <a:off x="1371600" y="3112294"/>
            <a:ext cx="6400800" cy="304800"/>
          </a:xfrm>
        </p:spPr>
        <p:txBody>
          <a:bodyPr lIns="91440" tIns="45720" rIns="91440" bIns="45720"/>
          <a:lstStyle>
            <a:lvl1pPr marL="0" indent="0" algn="ctr">
              <a:buFont typeface="Wingdings 3" pitchFamily="18" charset="2"/>
              <a:buNone/>
              <a:defRPr b="1">
                <a:solidFill>
                  <a:schemeClr val="tx1"/>
                </a:solidFill>
              </a:defRPr>
            </a:lvl1pPr>
          </a:lstStyle>
          <a:p>
            <a:r>
              <a:rPr lang="en-US" dirty="0"/>
              <a:t>Click to edit author name</a:t>
            </a:r>
            <a:endParaRPr lang="de-DE" dirty="0"/>
          </a:p>
        </p:txBody>
      </p:sp>
      <p:pic>
        <p:nvPicPr>
          <p:cNvPr id="9" name="Grafik 8"/>
          <p:cNvPicPr>
            <a:picLocks noChangeAspect="1"/>
          </p:cNvPicPr>
          <p:nvPr userDrawn="1"/>
        </p:nvPicPr>
        <p:blipFill>
          <a:blip r:embed="rId3"/>
          <a:stretch>
            <a:fillRect/>
          </a:stretch>
        </p:blipFill>
        <p:spPr>
          <a:xfrm>
            <a:off x="1" y="5191223"/>
            <a:ext cx="1777589" cy="234900"/>
          </a:xfrm>
          <a:prstGeom prst="rect">
            <a:avLst/>
          </a:prstGeom>
        </p:spPr>
      </p:pic>
      <p:pic>
        <p:nvPicPr>
          <p:cNvPr id="10" name="Grafik 9"/>
          <p:cNvPicPr>
            <a:picLocks noChangeAspect="1"/>
          </p:cNvPicPr>
          <p:nvPr userDrawn="1"/>
        </p:nvPicPr>
        <p:blipFill>
          <a:blip r:embed="rId4"/>
          <a:stretch>
            <a:fillRect/>
          </a:stretch>
        </p:blipFill>
        <p:spPr>
          <a:xfrm>
            <a:off x="1832767" y="5191223"/>
            <a:ext cx="1777589" cy="234900"/>
          </a:xfrm>
          <a:prstGeom prst="rect">
            <a:avLst/>
          </a:prstGeom>
        </p:spPr>
      </p:pic>
      <p:pic>
        <p:nvPicPr>
          <p:cNvPr id="11" name="Grafik 10"/>
          <p:cNvPicPr>
            <a:picLocks noChangeAspect="1"/>
          </p:cNvPicPr>
          <p:nvPr userDrawn="1"/>
        </p:nvPicPr>
        <p:blipFill>
          <a:blip r:embed="rId5"/>
          <a:stretch>
            <a:fillRect/>
          </a:stretch>
        </p:blipFill>
        <p:spPr>
          <a:xfrm>
            <a:off x="3665534" y="5191223"/>
            <a:ext cx="1777581" cy="234900"/>
          </a:xfrm>
          <a:prstGeom prst="rect">
            <a:avLst/>
          </a:prstGeom>
        </p:spPr>
      </p:pic>
      <p:pic>
        <p:nvPicPr>
          <p:cNvPr id="12" name="Grafik 11"/>
          <p:cNvPicPr>
            <a:picLocks noChangeAspect="1"/>
          </p:cNvPicPr>
          <p:nvPr userDrawn="1"/>
        </p:nvPicPr>
        <p:blipFill>
          <a:blip r:embed="rId6"/>
          <a:stretch>
            <a:fillRect/>
          </a:stretch>
        </p:blipFill>
        <p:spPr>
          <a:xfrm>
            <a:off x="5518933" y="5191223"/>
            <a:ext cx="1777589" cy="234900"/>
          </a:xfrm>
          <a:prstGeom prst="rect">
            <a:avLst/>
          </a:prstGeom>
        </p:spPr>
      </p:pic>
      <p:pic>
        <p:nvPicPr>
          <p:cNvPr id="13" name="Grafik 12"/>
          <p:cNvPicPr>
            <a:picLocks noChangeAspect="1"/>
          </p:cNvPicPr>
          <p:nvPr userDrawn="1"/>
        </p:nvPicPr>
        <p:blipFill>
          <a:blip r:embed="rId7"/>
          <a:stretch>
            <a:fillRect/>
          </a:stretch>
        </p:blipFill>
        <p:spPr>
          <a:xfrm>
            <a:off x="7377962" y="5191223"/>
            <a:ext cx="1759433" cy="2349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vi-VN"/>
              <a:t>Nhấn vào đây để chỉnh sửa định dạng tiêu đề</a:t>
            </a:r>
            <a:endParaRPr lang="de-DE"/>
          </a:p>
        </p:txBody>
      </p:sp>
      <p:sp>
        <p:nvSpPr>
          <p:cNvPr id="3" name="Content Placeholder 2"/>
          <p:cNvSpPr>
            <a:spLocks noGrp="1"/>
          </p:cNvSpPr>
          <p:nvPr>
            <p:ph idx="1" hasCustomPrompt="1"/>
          </p:nvPr>
        </p:nvSpPr>
        <p:spPr/>
        <p:txBody>
          <a:bodyPr/>
          <a:lstStyle>
            <a:lvl1pPr>
              <a:buClr>
                <a:srgbClr val="063D79"/>
              </a:buClr>
              <a:defRPr/>
            </a:lvl1pPr>
            <a:lvl2pPr>
              <a:buClr>
                <a:srgbClr val="063D79"/>
              </a:buClr>
              <a:defRPr/>
            </a:lvl2pPr>
            <a:lvl3pPr>
              <a:buClr>
                <a:srgbClr val="063D79"/>
              </a:buClr>
              <a:defRPr/>
            </a:lvl3pPr>
            <a:lvl4pPr>
              <a:buClr>
                <a:srgbClr val="063D79"/>
              </a:buClr>
              <a:defRPr/>
            </a:lvl4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p:spPr>
        <p:txBody>
          <a:bodyPr anchor="t"/>
          <a:lstStyle>
            <a:lvl1pPr algn="l">
              <a:defRPr sz="4000" b="1" cap="all"/>
            </a:lvl1pPr>
          </a:lstStyle>
          <a:p>
            <a:r>
              <a:rPr lang="vi-VN"/>
              <a:t>Nhấn vào đây để chỉnh sửa định dạng tiêu đề</a:t>
            </a:r>
            <a:endParaRPr lang="de-DE" dirty="0"/>
          </a:p>
        </p:txBody>
      </p:sp>
      <p:sp>
        <p:nvSpPr>
          <p:cNvPr id="3" name="Text Placeholder 2"/>
          <p:cNvSpPr>
            <a:spLocks noGrp="1"/>
          </p:cNvSpPr>
          <p:nvPr>
            <p:ph type="body" idx="1" hasCustomPrompt="1"/>
          </p:nvPr>
        </p:nvSpPr>
        <p:spPr>
          <a:xfrm>
            <a:off x="722313" y="2180035"/>
            <a:ext cx="7772400" cy="1125140"/>
          </a:xfrm>
        </p:spPr>
        <p:txBody>
          <a:bodyPr anchor="b"/>
          <a:lstStyle>
            <a:lvl1pPr marL="0" indent="0">
              <a:buNone/>
              <a:defRPr sz="24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vi-VN"/>
              <a:t>Nhấn vào đây để chỉnh sửa định dạng tiêu đề</a:t>
            </a: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hasCustomPrompt="1"/>
          </p:nvPr>
        </p:nvSpPr>
        <p:spPr>
          <a:xfrm>
            <a:off x="533400" y="685800"/>
            <a:ext cx="3924300" cy="3829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Content Placeholder 3"/>
          <p:cNvSpPr>
            <a:spLocks noGrp="1"/>
          </p:cNvSpPr>
          <p:nvPr>
            <p:ph sz="half" idx="2" hasCustomPrompt="1"/>
          </p:nvPr>
        </p:nvSpPr>
        <p:spPr>
          <a:xfrm>
            <a:off x="4610100" y="685800"/>
            <a:ext cx="3924300" cy="3829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a:t>Click vào đây để chỉnh sửa tiêu đề</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Farbschem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a:t>Màu sắc</a:t>
            </a:r>
            <a:endParaRPr lang="de-DE" dirty="0"/>
          </a:p>
        </p:txBody>
      </p:sp>
      <p:pic>
        <p:nvPicPr>
          <p:cNvPr id="3" name="Grafik 2"/>
          <p:cNvPicPr>
            <a:picLocks noChangeAspect="1"/>
          </p:cNvPicPr>
          <p:nvPr userDrawn="1"/>
        </p:nvPicPr>
        <p:blipFill>
          <a:blip r:embed="rId2"/>
          <a:stretch>
            <a:fillRect/>
          </a:stretch>
        </p:blipFill>
        <p:spPr>
          <a:xfrm>
            <a:off x="431825" y="789552"/>
            <a:ext cx="8208912" cy="3659909"/>
          </a:xfrm>
          <a:prstGeom prst="rect">
            <a:avLst/>
          </a:prstGeom>
        </p:spPr>
      </p:pic>
    </p:spTree>
    <p:extLst>
      <p:ext uri="{BB962C8B-B14F-4D97-AF65-F5344CB8AC3E}">
        <p14:creationId xmlns:p14="http://schemas.microsoft.com/office/powerpoint/2010/main" val="107093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04787"/>
            <a:ext cx="3008313" cy="871538"/>
          </a:xfrm>
        </p:spPr>
        <p:txBody>
          <a:bodyPr anchor="b"/>
          <a:lstStyle>
            <a:lvl1pPr algn="l">
              <a:defRPr sz="2000" b="1"/>
            </a:lvl1pPr>
          </a:lstStyle>
          <a:p>
            <a:r>
              <a:rPr lang="de-DE"/>
              <a:t>Click vào đây để chỉnh sửa tiêu đề</a:t>
            </a:r>
          </a:p>
        </p:txBody>
      </p:sp>
      <p:sp>
        <p:nvSpPr>
          <p:cNvPr id="3" name="Content Placeholder 2"/>
          <p:cNvSpPr>
            <a:spLocks noGrp="1"/>
          </p:cNvSpPr>
          <p:nvPr>
            <p:ph idx="1" hasCustomPrompt="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Text Placeholder 3"/>
          <p:cNvSpPr>
            <a:spLocks noGrp="1"/>
          </p:cNvSpPr>
          <p:nvPr>
            <p:ph type="body" sz="half" idx="2" hasCustomPrompt="1"/>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Nhấn vào đây để chỉnh sửa các kiểu văn bản mẫu</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3600450"/>
            <a:ext cx="5486400" cy="425054"/>
          </a:xfrm>
        </p:spPr>
        <p:txBody>
          <a:bodyPr anchor="b"/>
          <a:lstStyle>
            <a:lvl1pPr algn="l">
              <a:defRPr sz="2000" b="1"/>
            </a:lvl1pPr>
          </a:lstStyle>
          <a:p>
            <a:r>
              <a:rPr lang="de-DE"/>
              <a:t>Click vào đây để chỉnh sửa tiêu đề</a:t>
            </a:r>
            <a:endParaRPr lang="de-DE" dirty="0"/>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Thêm hình ảnh bằng cách nhấp vào biểu tượng</a:t>
            </a:r>
            <a:endParaRPr lang="de-DE" dirty="0"/>
          </a:p>
        </p:txBody>
      </p:sp>
      <p:sp>
        <p:nvSpPr>
          <p:cNvPr id="4" name="Text Placeholder 3"/>
          <p:cNvSpPr>
            <a:spLocks noGrp="1"/>
          </p:cNvSpPr>
          <p:nvPr>
            <p:ph type="body" sz="half" idx="2" hasCustomPrompt="1"/>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Nhấn vào đây để chỉnh sửa các kiểu văn bản mẫu</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 Id="rId12" Type="http://schemas.openxmlformats.org/officeDocument/2006/relationships/image" Target="../media/image2.png"/><Relationship Id="rId13" Type="http://schemas.openxmlformats.org/officeDocument/2006/relationships/image" Target="../media/image3.png"/><Relationship Id="rId14" Type="http://schemas.openxmlformats.org/officeDocument/2006/relationships/image" Target="../media/image4.png"/><Relationship Id="rId15" Type="http://schemas.openxmlformats.org/officeDocument/2006/relationships/image" Target="../media/image5.png"/><Relationship Id="rId16"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732" y="4591169"/>
            <a:ext cx="9135268" cy="551123"/>
          </a:xfrm>
          <a:prstGeom prst="rect">
            <a:avLst/>
          </a:prstGeom>
        </p:spPr>
      </p:pic>
      <p:sp>
        <p:nvSpPr>
          <p:cNvPr id="180226" name="Rectangle 2"/>
          <p:cNvSpPr>
            <a:spLocks noGrp="1" noChangeArrowheads="1"/>
          </p:cNvSpPr>
          <p:nvPr>
            <p:ph type="title"/>
          </p:nvPr>
        </p:nvSpPr>
        <p:spPr bwMode="auto">
          <a:xfrm>
            <a:off x="539751" y="22622"/>
            <a:ext cx="7993063" cy="484584"/>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vi-VN"/>
              <a:t>Nhấn vào đây để chỉnh sửa định dạng tiêu đề</a:t>
            </a:r>
            <a:endParaRPr lang="en-GB" dirty="0"/>
          </a:p>
        </p:txBody>
      </p:sp>
      <p:sp>
        <p:nvSpPr>
          <p:cNvPr id="180227" name="Rectangle 3"/>
          <p:cNvSpPr>
            <a:spLocks noGrp="1" noChangeArrowheads="1"/>
          </p:cNvSpPr>
          <p:nvPr>
            <p:ph type="body" idx="1"/>
          </p:nvPr>
        </p:nvSpPr>
        <p:spPr bwMode="auto">
          <a:xfrm>
            <a:off x="533400" y="685800"/>
            <a:ext cx="8001000" cy="382905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vi-VN" dirty="0"/>
              <a:t>Nhấn vào đây để chỉnh sửa các kiểu văn bản mẫu</a:t>
            </a:r>
            <a:endParaRPr lang="en-US" dirty="0"/>
          </a:p>
          <a:p>
            <a:pPr lvl="1"/>
            <a:r>
              <a:rPr lang="en-GB" dirty="0" err="1"/>
              <a:t>Cấp</a:t>
            </a:r>
            <a:r>
              <a:rPr lang="en-GB" dirty="0"/>
              <a:t> </a:t>
            </a:r>
            <a:r>
              <a:rPr lang="en-GB" dirty="0" err="1"/>
              <a:t>thứ</a:t>
            </a:r>
            <a:r>
              <a:rPr lang="en-GB" dirty="0"/>
              <a:t> </a:t>
            </a:r>
            <a:r>
              <a:rPr lang="en-GB" dirty="0" err="1"/>
              <a:t>hai</a:t>
            </a:r>
            <a:endParaRPr lang="en-GB" dirty="0"/>
          </a:p>
          <a:p>
            <a:pPr lvl="2"/>
            <a:r>
              <a:rPr lang="en-GB" dirty="0" err="1"/>
              <a:t>Cấp</a:t>
            </a:r>
            <a:r>
              <a:rPr lang="en-GB" dirty="0"/>
              <a:t> </a:t>
            </a:r>
            <a:r>
              <a:rPr lang="en-GB" dirty="0" err="1"/>
              <a:t>thứ</a:t>
            </a:r>
            <a:r>
              <a:rPr lang="en-GB" dirty="0"/>
              <a:t> </a:t>
            </a:r>
            <a:r>
              <a:rPr lang="en-GB" dirty="0" err="1"/>
              <a:t>ba</a:t>
            </a:r>
            <a:endParaRPr lang="en-GB" dirty="0"/>
          </a:p>
          <a:p>
            <a:pPr lvl="3"/>
            <a:r>
              <a:rPr lang="en-GB" dirty="0" err="1"/>
              <a:t>Cấp</a:t>
            </a:r>
            <a:r>
              <a:rPr lang="en-GB" dirty="0"/>
              <a:t> </a:t>
            </a:r>
            <a:r>
              <a:rPr lang="en-GB" dirty="0" err="1"/>
              <a:t>thứ</a:t>
            </a:r>
            <a:r>
              <a:rPr lang="en-GB" dirty="0"/>
              <a:t> </a:t>
            </a:r>
            <a:r>
              <a:rPr lang="en-GB" dirty="0" err="1"/>
              <a:t>tư</a:t>
            </a:r>
            <a:endParaRPr lang="en-GB" dirty="0"/>
          </a:p>
        </p:txBody>
      </p:sp>
      <p:sp>
        <p:nvSpPr>
          <p:cNvPr id="180254" name="Line 30"/>
          <p:cNvSpPr>
            <a:spLocks noChangeShapeType="1"/>
          </p:cNvSpPr>
          <p:nvPr/>
        </p:nvSpPr>
        <p:spPr bwMode="auto">
          <a:xfrm flipV="1">
            <a:off x="131763" y="519113"/>
            <a:ext cx="8856662" cy="0"/>
          </a:xfrm>
          <a:prstGeom prst="line">
            <a:avLst/>
          </a:prstGeom>
          <a:noFill/>
          <a:ln w="28575">
            <a:solidFill>
              <a:schemeClr val="bg2"/>
            </a:solidFill>
            <a:round/>
            <a:headEnd type="none" w="sm" len="sm"/>
            <a:tailEnd type="none" w="sm" len="sm"/>
          </a:ln>
          <a:effectLst/>
        </p:spPr>
        <p:txBody>
          <a:bodyPr wrap="none" anchor="ctr"/>
          <a:lstStyle/>
          <a:p>
            <a:endParaRPr lang="de-DE"/>
          </a:p>
        </p:txBody>
      </p:sp>
      <p:sp>
        <p:nvSpPr>
          <p:cNvPr id="180258" name="Text Box 34"/>
          <p:cNvSpPr txBox="1">
            <a:spLocks noChangeArrowheads="1"/>
          </p:cNvSpPr>
          <p:nvPr/>
        </p:nvSpPr>
        <p:spPr bwMode="auto">
          <a:xfrm>
            <a:off x="8395825" y="4785996"/>
            <a:ext cx="381835" cy="276999"/>
          </a:xfrm>
          <a:prstGeom prst="rect">
            <a:avLst/>
          </a:prstGeom>
          <a:noFill/>
          <a:ln w="12700">
            <a:noFill/>
            <a:miter lim="800000"/>
            <a:headEnd type="none" w="sm" len="sm"/>
            <a:tailEnd type="none" w="sm" len="sm"/>
          </a:ln>
          <a:effectLst/>
        </p:spPr>
        <p:txBody>
          <a:bodyPr wrap="none">
            <a:spAutoFit/>
          </a:bodyPr>
          <a:lstStyle/>
          <a:p>
            <a:pPr algn="r"/>
            <a:fld id="{AA316C04-7673-4CAB-99E0-6C1D8F626C8B}" type="slidenum">
              <a:rPr lang="de-DE" sz="1200" b="0">
                <a:solidFill>
                  <a:schemeClr val="bg2"/>
                </a:solidFill>
              </a:rPr>
              <a:pPr algn="r"/>
              <a:t>‹#›</a:t>
            </a:fld>
            <a:endParaRPr lang="de-DE" sz="1200" b="0">
              <a:solidFill>
                <a:schemeClr val="bg2"/>
              </a:solidFill>
            </a:endParaRPr>
          </a:p>
        </p:txBody>
      </p:sp>
      <p:pic>
        <p:nvPicPr>
          <p:cNvPr id="12" name="Grafik 11"/>
          <p:cNvPicPr>
            <a:picLocks noChangeAspect="1"/>
          </p:cNvPicPr>
          <p:nvPr/>
        </p:nvPicPr>
        <p:blipFill>
          <a:blip r:embed="rId12"/>
          <a:stretch>
            <a:fillRect/>
          </a:stretch>
        </p:blipFill>
        <p:spPr>
          <a:xfrm>
            <a:off x="1" y="5191223"/>
            <a:ext cx="1777589" cy="234900"/>
          </a:xfrm>
          <a:prstGeom prst="rect">
            <a:avLst/>
          </a:prstGeom>
        </p:spPr>
      </p:pic>
      <p:pic>
        <p:nvPicPr>
          <p:cNvPr id="13" name="Grafik 12"/>
          <p:cNvPicPr>
            <a:picLocks noChangeAspect="1"/>
          </p:cNvPicPr>
          <p:nvPr/>
        </p:nvPicPr>
        <p:blipFill>
          <a:blip r:embed="rId13"/>
          <a:stretch>
            <a:fillRect/>
          </a:stretch>
        </p:blipFill>
        <p:spPr>
          <a:xfrm>
            <a:off x="1832767" y="5191223"/>
            <a:ext cx="1777589" cy="234900"/>
          </a:xfrm>
          <a:prstGeom prst="rect">
            <a:avLst/>
          </a:prstGeom>
        </p:spPr>
      </p:pic>
      <p:pic>
        <p:nvPicPr>
          <p:cNvPr id="15" name="Grafik 14"/>
          <p:cNvPicPr>
            <a:picLocks noChangeAspect="1"/>
          </p:cNvPicPr>
          <p:nvPr/>
        </p:nvPicPr>
        <p:blipFill>
          <a:blip r:embed="rId14"/>
          <a:stretch>
            <a:fillRect/>
          </a:stretch>
        </p:blipFill>
        <p:spPr>
          <a:xfrm>
            <a:off x="3665534" y="5191223"/>
            <a:ext cx="1777581" cy="234900"/>
          </a:xfrm>
          <a:prstGeom prst="rect">
            <a:avLst/>
          </a:prstGeom>
        </p:spPr>
      </p:pic>
      <p:pic>
        <p:nvPicPr>
          <p:cNvPr id="16" name="Grafik 15"/>
          <p:cNvPicPr>
            <a:picLocks noChangeAspect="1"/>
          </p:cNvPicPr>
          <p:nvPr/>
        </p:nvPicPr>
        <p:blipFill>
          <a:blip r:embed="rId15"/>
          <a:stretch>
            <a:fillRect/>
          </a:stretch>
        </p:blipFill>
        <p:spPr>
          <a:xfrm>
            <a:off x="5518933" y="5191223"/>
            <a:ext cx="1777589" cy="234900"/>
          </a:xfrm>
          <a:prstGeom prst="rect">
            <a:avLst/>
          </a:prstGeom>
        </p:spPr>
      </p:pic>
      <p:pic>
        <p:nvPicPr>
          <p:cNvPr id="17" name="Grafik 16"/>
          <p:cNvPicPr>
            <a:picLocks noChangeAspect="1"/>
          </p:cNvPicPr>
          <p:nvPr/>
        </p:nvPicPr>
        <p:blipFill>
          <a:blip r:embed="rId16"/>
          <a:stretch>
            <a:fillRect/>
          </a:stretch>
        </p:blipFill>
        <p:spPr>
          <a:xfrm>
            <a:off x="7377962" y="5191223"/>
            <a:ext cx="1759433" cy="234900"/>
          </a:xfrm>
          <a:prstGeom prst="rect">
            <a:avLst/>
          </a:prstGeom>
        </p:spPr>
      </p:pic>
      <p:sp>
        <p:nvSpPr>
          <p:cNvPr id="14" name="Rectangle 25"/>
          <p:cNvSpPr>
            <a:spLocks noChangeArrowheads="1"/>
          </p:cNvSpPr>
          <p:nvPr/>
        </p:nvSpPr>
        <p:spPr bwMode="auto">
          <a:xfrm>
            <a:off x="0" y="4938406"/>
            <a:ext cx="9114078" cy="173519"/>
          </a:xfrm>
          <a:prstGeom prst="rect">
            <a:avLst/>
          </a:prstGeom>
          <a:noFill/>
          <a:ln w="9525">
            <a:noFill/>
            <a:miter lim="800000"/>
            <a:headEnd/>
            <a:tailEnd/>
          </a:ln>
          <a:effectLst/>
        </p:spPr>
        <p:txBody>
          <a:bodyPr wrap="none" lIns="92075" tIns="46038" rIns="92075" bIns="46038" anchor="ctr"/>
          <a:lstStyle/>
          <a:p>
            <a:pPr algn="ctr"/>
            <a:r>
              <a:rPr lang="en-US" sz="1200" b="0" i="1" dirty="0">
                <a:latin typeface="+mn-lt"/>
              </a:rPr>
              <a:t>ictu.edu.vn</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7" r:id="rId5"/>
    <p:sldLayoutId id="2147483663" r:id="rId6"/>
    <p:sldLayoutId id="2147483658" r:id="rId7"/>
    <p:sldLayoutId id="2147483659" r:id="rId8"/>
    <p:sldLayoutId id="2147483660" r:id="rId9"/>
  </p:sldLayoutIdLst>
  <p:txStyles>
    <p:titleStyle>
      <a:lvl1pPr algn="ctr" rtl="0" eaLnBrk="1" fontAlgn="base" hangingPunct="1">
        <a:spcBef>
          <a:spcPct val="0"/>
        </a:spcBef>
        <a:spcAft>
          <a:spcPct val="0"/>
        </a:spcAft>
        <a:defRPr sz="2600" b="1">
          <a:solidFill>
            <a:srgbClr val="063D79"/>
          </a:solidFill>
          <a:latin typeface="+mj-lt"/>
          <a:ea typeface="+mj-ea"/>
          <a:cs typeface="+mj-cs"/>
        </a:defRPr>
      </a:lvl1pPr>
      <a:lvl2pPr algn="ctr" rtl="0" eaLnBrk="1" fontAlgn="base" hangingPunct="1">
        <a:spcBef>
          <a:spcPct val="0"/>
        </a:spcBef>
        <a:spcAft>
          <a:spcPct val="0"/>
        </a:spcAft>
        <a:defRPr sz="2600" b="1">
          <a:solidFill>
            <a:srgbClr val="063D79"/>
          </a:solidFill>
          <a:latin typeface="Arial" charset="0"/>
        </a:defRPr>
      </a:lvl2pPr>
      <a:lvl3pPr algn="ctr" rtl="0" eaLnBrk="1" fontAlgn="base" hangingPunct="1">
        <a:spcBef>
          <a:spcPct val="0"/>
        </a:spcBef>
        <a:spcAft>
          <a:spcPct val="0"/>
        </a:spcAft>
        <a:defRPr sz="2600" b="1">
          <a:solidFill>
            <a:srgbClr val="063D79"/>
          </a:solidFill>
          <a:latin typeface="Arial" charset="0"/>
        </a:defRPr>
      </a:lvl3pPr>
      <a:lvl4pPr algn="ctr" rtl="0" eaLnBrk="1" fontAlgn="base" hangingPunct="1">
        <a:spcBef>
          <a:spcPct val="0"/>
        </a:spcBef>
        <a:spcAft>
          <a:spcPct val="0"/>
        </a:spcAft>
        <a:defRPr sz="2600" b="1">
          <a:solidFill>
            <a:srgbClr val="063D79"/>
          </a:solidFill>
          <a:latin typeface="Arial" charset="0"/>
        </a:defRPr>
      </a:lvl4pPr>
      <a:lvl5pPr algn="ctr" rtl="0" eaLnBrk="1" fontAlgn="base" hangingPunct="1">
        <a:spcBef>
          <a:spcPct val="0"/>
        </a:spcBef>
        <a:spcAft>
          <a:spcPct val="0"/>
        </a:spcAft>
        <a:defRPr sz="2600" b="1">
          <a:solidFill>
            <a:srgbClr val="063D79"/>
          </a:solidFill>
          <a:latin typeface="Arial" charset="0"/>
        </a:defRPr>
      </a:lvl5pPr>
      <a:lvl6pPr marL="457200" algn="ctr" rtl="0" eaLnBrk="1" fontAlgn="base" hangingPunct="1">
        <a:spcBef>
          <a:spcPct val="0"/>
        </a:spcBef>
        <a:spcAft>
          <a:spcPct val="0"/>
        </a:spcAft>
        <a:defRPr sz="2600" b="1">
          <a:solidFill>
            <a:srgbClr val="063D79"/>
          </a:solidFill>
          <a:latin typeface="Arial" charset="0"/>
        </a:defRPr>
      </a:lvl6pPr>
      <a:lvl7pPr marL="914400" algn="ctr" rtl="0" eaLnBrk="1" fontAlgn="base" hangingPunct="1">
        <a:spcBef>
          <a:spcPct val="0"/>
        </a:spcBef>
        <a:spcAft>
          <a:spcPct val="0"/>
        </a:spcAft>
        <a:defRPr sz="2600" b="1">
          <a:solidFill>
            <a:srgbClr val="063D79"/>
          </a:solidFill>
          <a:latin typeface="Arial" charset="0"/>
        </a:defRPr>
      </a:lvl7pPr>
      <a:lvl8pPr marL="1371600" algn="ctr" rtl="0" eaLnBrk="1" fontAlgn="base" hangingPunct="1">
        <a:spcBef>
          <a:spcPct val="0"/>
        </a:spcBef>
        <a:spcAft>
          <a:spcPct val="0"/>
        </a:spcAft>
        <a:defRPr sz="2600" b="1">
          <a:solidFill>
            <a:srgbClr val="063D79"/>
          </a:solidFill>
          <a:latin typeface="Arial" charset="0"/>
        </a:defRPr>
      </a:lvl8pPr>
      <a:lvl9pPr marL="1828800" algn="ctr" rtl="0" eaLnBrk="1" fontAlgn="base" hangingPunct="1">
        <a:spcBef>
          <a:spcPct val="0"/>
        </a:spcBef>
        <a:spcAft>
          <a:spcPct val="0"/>
        </a:spcAft>
        <a:defRPr sz="2600" b="1">
          <a:solidFill>
            <a:srgbClr val="063D79"/>
          </a:solidFill>
          <a:latin typeface="Arial" charset="0"/>
        </a:defRPr>
      </a:lvl9pPr>
    </p:titleStyle>
    <p:bodyStyle>
      <a:lvl1pPr marL="342900" indent="-342900" algn="l" rtl="0" eaLnBrk="1" fontAlgn="base" hangingPunct="1">
        <a:spcBef>
          <a:spcPct val="20000"/>
        </a:spcBef>
        <a:spcAft>
          <a:spcPct val="0"/>
        </a:spcAft>
        <a:buClr>
          <a:srgbClr val="063D79"/>
        </a:buClr>
        <a:buSzPct val="80000"/>
        <a:buFont typeface="Wingdings 3" pitchFamily="18" charset="2"/>
        <a:buChar char="u"/>
        <a:defRPr sz="2000">
          <a:solidFill>
            <a:srgbClr val="4D4D4D"/>
          </a:solidFill>
          <a:latin typeface="+mn-lt"/>
          <a:ea typeface="+mn-ea"/>
          <a:cs typeface="+mn-cs"/>
        </a:defRPr>
      </a:lvl1pPr>
      <a:lvl2pPr marL="742950" indent="-285750" algn="l" rtl="0" eaLnBrk="1" fontAlgn="base" hangingPunct="1">
        <a:spcBef>
          <a:spcPct val="20000"/>
        </a:spcBef>
        <a:spcAft>
          <a:spcPct val="0"/>
        </a:spcAft>
        <a:buClr>
          <a:srgbClr val="063D79"/>
        </a:buClr>
        <a:buSzPct val="100000"/>
        <a:buFont typeface="Wingdings" pitchFamily="2" charset="2"/>
        <a:buChar char="§"/>
        <a:defRPr sz="1800">
          <a:solidFill>
            <a:srgbClr val="4D4D4D"/>
          </a:solidFill>
          <a:latin typeface="+mn-lt"/>
        </a:defRPr>
      </a:lvl2pPr>
      <a:lvl3pPr marL="1143000" indent="-228600" algn="l" rtl="0" eaLnBrk="1" fontAlgn="base" hangingPunct="1">
        <a:spcBef>
          <a:spcPct val="20000"/>
        </a:spcBef>
        <a:spcAft>
          <a:spcPct val="0"/>
        </a:spcAft>
        <a:buClr>
          <a:srgbClr val="063D79"/>
        </a:buClr>
        <a:buChar char="–"/>
        <a:defRPr sz="1600" baseline="0">
          <a:solidFill>
            <a:srgbClr val="4D4D4D"/>
          </a:solidFill>
          <a:latin typeface="+mn-lt"/>
        </a:defRPr>
      </a:lvl3pPr>
      <a:lvl4pPr marL="1562100" indent="-228600" algn="l" rtl="0" eaLnBrk="1" fontAlgn="base" hangingPunct="1">
        <a:spcBef>
          <a:spcPct val="20000"/>
        </a:spcBef>
        <a:spcAft>
          <a:spcPct val="0"/>
        </a:spcAft>
        <a:buClr>
          <a:srgbClr val="063D79"/>
        </a:buClr>
        <a:buChar char="•"/>
        <a:defRPr sz="1600" baseline="0">
          <a:solidFill>
            <a:srgbClr val="4D4D4D"/>
          </a:solidFill>
          <a:latin typeface="+mn-lt"/>
        </a:defRPr>
      </a:lvl4pPr>
      <a:lvl5pPr marL="1981200" indent="-228600" algn="l" rtl="0" eaLnBrk="1" fontAlgn="base" hangingPunct="1">
        <a:spcBef>
          <a:spcPct val="20000"/>
        </a:spcBef>
        <a:spcAft>
          <a:spcPct val="0"/>
        </a:spcAft>
        <a:buClr>
          <a:srgbClr val="063D79"/>
        </a:buClr>
        <a:buChar char=" "/>
        <a:defRPr sz="1600">
          <a:solidFill>
            <a:srgbClr val="4D4D4D"/>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62EF-0DDE-ADF7-9F04-ACF128FF9FB1}"/>
              </a:ext>
            </a:extLst>
          </p:cNvPr>
          <p:cNvSpPr>
            <a:spLocks noGrp="1"/>
          </p:cNvSpPr>
          <p:nvPr>
            <p:ph type="ctrTitle" sz="quarter"/>
          </p:nvPr>
        </p:nvSpPr>
        <p:spPr/>
        <p:txBody>
          <a:bodyPr/>
          <a:lstStyle/>
          <a:p>
            <a:pPr algn="ctr">
              <a:defRPr sz="2000" b="1">
                <a:solidFill>
                  <a:srgbClr val="0E387A"/>
                </a:solidFill>
                <a:latin typeface="Arial"/>
              </a:defRPr>
            </a:pPr>
            <a:r>
              <a:t>HỆ THỐNG QUẢN LÝ THÚ CƯNG VÀ LỊCH CHĂM SÓC</a:t>
            </a:r>
          </a:p>
          <a:p>
            <a:pPr algn="ctr">
              <a:defRPr sz="2000" b="1">
                <a:solidFill>
                  <a:srgbClr val="0E387A"/>
                </a:solidFill>
                <a:latin typeface="Arial"/>
              </a:defRPr>
            </a:pPr>
            <a:r>
              <a:t>CÓ TÍCH HỢP TRÍ TUỆ NHÂN TẠO (AI)</a:t>
            </a:r>
          </a:p>
        </p:txBody>
      </p:sp>
      <p:sp>
        <p:nvSpPr>
          <p:cNvPr id="3" name="Subtitle 2">
            <a:extLst>
              <a:ext uri="{FF2B5EF4-FFF2-40B4-BE49-F238E27FC236}">
                <a16:creationId xmlns:a16="http://schemas.microsoft.com/office/drawing/2014/main" id="{1DAC1011-8220-8CB5-0EB7-642DC31B1393}"/>
              </a:ext>
            </a:extLst>
          </p:cNvPr>
          <p:cNvSpPr>
            <a:spLocks noGrp="1"/>
          </p:cNvSpPr>
          <p:nvPr>
            <p:ph type="subTitle" sz="quarter" idx="1"/>
          </p:nvPr>
        </p:nvSpPr>
        <p:spPr/>
        <p:txBody>
          <a:bodyPr/>
          <a:lstStyle/>
          <a:p>
            <a:pPr algn="ctr">
              <a:defRPr sz="1200" b="0">
                <a:solidFill>
                  <a:srgbClr val="1E293B"/>
                </a:solidFill>
                <a:latin typeface="Arial"/>
              </a:defRPr>
            </a:pPr>
            <a:r>
              <a:t>HỌC PHẦN: PHÁT TRIỂN ỨNG DỤNG AI</a:t>
            </a:r>
          </a:p>
          <a:p>
            <a:pPr algn="ctr">
              <a:defRPr sz="1200" b="0">
                <a:solidFill>
                  <a:srgbClr val="1E293B"/>
                </a:solidFill>
                <a:latin typeface="Arial"/>
              </a:defRPr>
            </a:pPr>
            <a:r>
              <a:t>GVHD: TS. Trần Quang Quý | Sinh viên thực hiện: Nhóm Đồ Án Chuyên Ngành</a:t>
            </a:r>
          </a:p>
          <a:p>
            <a:pPr algn="ctr">
              <a:defRPr sz="1200" b="0">
                <a:solidFill>
                  <a:srgbClr val="1E293B"/>
                </a:solidFill>
                <a:latin typeface="Arial"/>
              </a:defRPr>
            </a:pPr>
            <a:r>
              <a:t>Khoa Công nghệ Thông tin - Trường Đại học CNTT &amp; Truyền thông (ICTU) - 2026</a:t>
            </a:r>
          </a:p>
        </p:txBody>
      </p:sp>
    </p:spTree>
    <p:extLst>
      <p:ext uri="{BB962C8B-B14F-4D97-AF65-F5344CB8AC3E}">
        <p14:creationId xmlns:p14="http://schemas.microsoft.com/office/powerpoint/2010/main" val="184958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6954B-2E09-66B5-1C03-ACF3529A7A9C}"/>
              </a:ext>
            </a:extLst>
          </p:cNvPr>
          <p:cNvSpPr>
            <a:spLocks noGrp="1"/>
          </p:cNvSpPr>
          <p:nvPr>
            <p:ph type="title"/>
          </p:nvPr>
        </p:nvSpPr>
        <p:spPr/>
        <p:txBody>
          <a:bodyPr/>
          <a:lstStyle/>
          <a:p>
            <a:pPr algn="l">
              <a:defRPr sz="1800" b="1">
                <a:solidFill>
                  <a:srgbClr val="0E387A"/>
                </a:solidFill>
                <a:latin typeface="Arial"/>
              </a:defRPr>
            </a:pPr>
            <a:r>
              <a:t>1. Bối Cảnh &amp; Lý Do Chọn Đề Tài</a:t>
            </a:r>
          </a:p>
        </p:txBody>
      </p:sp>
      <p:sp>
        <p:nvSpPr>
          <p:cNvPr id="3" name="Rounded Rectangle 2"/>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Nhu Cầu Nuôi Thú Cưng Ngày Càng Lớn</a:t>
            </a:r>
          </a:p>
          <a:p>
            <a:pPr algn="l">
              <a:spcAft>
                <a:spcPts val="400"/>
              </a:spcAft>
              <a:defRPr sz="1050" b="0">
                <a:solidFill>
                  <a:srgbClr val="1E293B"/>
                </a:solidFill>
                <a:latin typeface="Arial"/>
              </a:defRPr>
            </a:pPr>
            <a:r>
              <a:t>•  Số lượng người nuôi thú cưng tại Việt Nam tăng trưởng hơn 15% mỗi năm.</a:t>
            </a:r>
          </a:p>
          <a:p>
            <a:pPr algn="l">
              <a:spcAft>
                <a:spcPts val="400"/>
              </a:spcAft>
              <a:defRPr sz="1050" b="0">
                <a:solidFill>
                  <a:srgbClr val="1E293B"/>
                </a:solidFill>
                <a:latin typeface="Arial"/>
              </a:defRPr>
            </a:pPr>
            <a:r>
              <a:t>•  Chó, mèo được xem như thành viên trong gia đình, nhu cầu y tế tăng cao.</a:t>
            </a:r>
          </a:p>
          <a:p>
            <a:pPr algn="l">
              <a:spcAft>
                <a:spcPts val="400"/>
              </a:spcAft>
              <a:defRPr sz="1050" b="0">
                <a:solidFill>
                  <a:srgbClr val="1E293B"/>
                </a:solidFill>
                <a:latin typeface="Arial"/>
              </a:defRPr>
            </a:pPr>
            <a:r>
              <a:t>•  Chủ nuôi thường bối rối khi thú cưng bị ốm vào ban đêm hoặc ngày lễ.</a:t>
            </a:r>
          </a:p>
          <a:p>
            <a:pPr algn="l">
              <a:spcAft>
                <a:spcPts val="400"/>
              </a:spcAft>
              <a:defRPr sz="1050" b="0">
                <a:solidFill>
                  <a:srgbClr val="1E293B"/>
                </a:solidFill>
                <a:latin typeface="Arial"/>
              </a:defRPr>
            </a:pPr>
            <a:r>
              <a:t>•  Nhiều phòng khám vẫn ghi chép sổ sách thủ công, dễ thất lạc lịch sử tiêm.</a:t>
            </a:r>
          </a:p>
        </p:txBody>
      </p:sp>
      <p:sp>
        <p:nvSpPr>
          <p:cNvPr id="4" name="Rounded Rectangle 3"/>
          <p:cNvSpPr/>
          <p:nvPr/>
        </p:nvSpPr>
        <p:spPr>
          <a:xfrm>
            <a:off x="4663440" y="1005840"/>
            <a:ext cx="3931920" cy="3108960"/>
          </a:xfrm>
          <a:prstGeom prst="roundRect">
            <a:avLst/>
          </a:prstGeom>
          <a:solidFill>
            <a:srgbClr val="F8FAFC"/>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DC2626"/>
                </a:solidFill>
                <a:latin typeface="Arial"/>
              </a:defRPr>
            </a:pPr>
            <a:r>
              <a:t>4 Khó Khăn Lớn Cần Giải Quyết</a:t>
            </a:r>
          </a:p>
          <a:p>
            <a:pPr algn="l">
              <a:spcAft>
                <a:spcPts val="400"/>
              </a:spcAft>
              <a:defRPr sz="1050" b="0">
                <a:solidFill>
                  <a:srgbClr val="1E293B"/>
                </a:solidFill>
                <a:latin typeface="Arial"/>
              </a:defRPr>
            </a:pPr>
            <a:r>
              <a:t>•  Bác sĩ quá tải: Mất nhiều thời gian giải đáp các câu hỏi lặp đi lặp lại.</a:t>
            </a:r>
          </a:p>
          <a:p>
            <a:pPr algn="l">
              <a:spcAft>
                <a:spcPts val="400"/>
              </a:spcAft>
              <a:defRPr sz="1050" b="0">
                <a:solidFill>
                  <a:srgbClr val="1E293B"/>
                </a:solidFill>
                <a:latin typeface="Arial"/>
              </a:defRPr>
            </a:pPr>
            <a:r>
              <a:t>•  Lạc mất sổ tiêm: Khách hay quên mang sổ giấy khi đi tiêm phòng nhắc lại.</a:t>
            </a:r>
          </a:p>
          <a:p>
            <a:pPr algn="l">
              <a:spcAft>
                <a:spcPts val="400"/>
              </a:spcAft>
              <a:defRPr sz="1050" b="0">
                <a:solidFill>
                  <a:srgbClr val="1E293B"/>
                </a:solidFill>
                <a:latin typeface="Arial"/>
              </a:defRPr>
            </a:pPr>
            <a:r>
              <a:t>•  Cấp cứu chậm trễ: Chủ nuôi không biết sơ cứu ban đầu khi thú cưng nuốt dị vật, sốc nhiệt.</a:t>
            </a:r>
          </a:p>
          <a:p>
            <a:pPr algn="l">
              <a:spcAft>
                <a:spcPts val="400"/>
              </a:spcAft>
              <a:defRPr sz="1050" b="0">
                <a:solidFill>
                  <a:srgbClr val="1E293B"/>
                </a:solidFill>
                <a:latin typeface="Arial"/>
              </a:defRPr>
            </a:pPr>
            <a:r>
              <a:t>•  Thanh toán thủ công: Dễ nhầm lẫn số tiền và mất thời gian đối soát cuối ngày.</a:t>
            </a:r>
          </a:p>
        </p:txBody>
      </p:sp>
    </p:spTree>
    <p:extLst>
      <p:ext uri="{BB962C8B-B14F-4D97-AF65-F5344CB8AC3E}">
        <p14:creationId xmlns:p14="http://schemas.microsoft.com/office/powerpoint/2010/main" val="309051870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2. Mục Tiêu &amp; Phạm Vi Của Hệ Thống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HỆ THỐNG QUẢN LÝ TOÀN DIỆN &amp; TRỢ LÝ AI THÔNG MINH</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Mục Tiêu Trọng Tâm</a:t>
            </a:r>
          </a:p>
          <a:p>
            <a:pPr algn="l">
              <a:spcAft>
                <a:spcPts val="400"/>
              </a:spcAft>
              <a:defRPr sz="1050" b="0">
                <a:solidFill>
                  <a:srgbClr val="1E293B"/>
                </a:solidFill>
                <a:latin typeface="Arial"/>
              </a:defRPr>
            </a:pPr>
            <a:r>
              <a:t>•  Xây dựng Trợ lý AI tư vấn sức khỏe 24/7, trả lời cực nhanh dưới 1 giây.</a:t>
            </a:r>
          </a:p>
          <a:p>
            <a:pPr algn="l">
              <a:spcAft>
                <a:spcPts val="400"/>
              </a:spcAft>
              <a:defRPr sz="1050" b="0">
                <a:solidFill>
                  <a:srgbClr val="1E293B"/>
                </a:solidFill>
                <a:latin typeface="Arial"/>
              </a:defRPr>
            </a:pPr>
            <a:r>
              <a:t>•  Số hóa toàn bộ hồ sơ bệnh án và lịch tiêm chủng lên điện thoại.</a:t>
            </a:r>
          </a:p>
          <a:p>
            <a:pPr algn="l">
              <a:spcAft>
                <a:spcPts val="400"/>
              </a:spcAft>
              <a:defRPr sz="1050" b="0">
                <a:solidFill>
                  <a:srgbClr val="1E293B"/>
                </a:solidFill>
                <a:latin typeface="Arial"/>
              </a:defRPr>
            </a:pPr>
            <a:r>
              <a:t>•  Tự động hóa tiếp đón, đặt lịch khám và thanh toán quét mã QR.</a:t>
            </a:r>
          </a:p>
          <a:p>
            <a:pPr algn="l">
              <a:spcAft>
                <a:spcPts val="400"/>
              </a:spcAft>
              <a:defRPr sz="1050" b="0">
                <a:solidFill>
                  <a:srgbClr val="1E293B"/>
                </a:solidFill>
                <a:latin typeface="Arial"/>
              </a:defRPr>
            </a:pPr>
            <a:r>
              <a:t>•  Đảm bảo an toàn sức khỏe 100%, có chốt chặn ngăn AI trả lời bừa bãi.</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Phạm Vi &amp; Nguyên Tắc An Toàn</a:t>
            </a:r>
          </a:p>
          <a:p>
            <a:pPr algn="l">
              <a:spcAft>
                <a:spcPts val="400"/>
              </a:spcAft>
              <a:defRPr sz="1050" b="0">
                <a:solidFill>
                  <a:srgbClr val="1E293B"/>
                </a:solidFill>
                <a:latin typeface="Arial"/>
              </a:defRPr>
            </a:pPr>
            <a:r>
              <a:t>•  Đối tượng chăm sóc: Chó, mèo và các loài thú cưng nuôi trong nhà.</a:t>
            </a:r>
          </a:p>
          <a:p>
            <a:pPr algn="l">
              <a:spcAft>
                <a:spcPts val="400"/>
              </a:spcAft>
              <a:defRPr sz="1050" b="0">
                <a:solidFill>
                  <a:srgbClr val="1E293B"/>
                </a:solidFill>
                <a:latin typeface="Arial"/>
              </a:defRPr>
            </a:pPr>
            <a:r>
              <a:t>•  Vai trò của AI: Giải thích triệu chứng, nhắc lịch tiêm, hướng dẫn ăn uống.</a:t>
            </a:r>
          </a:p>
          <a:p>
            <a:pPr algn="l">
              <a:spcAft>
                <a:spcPts val="400"/>
              </a:spcAft>
              <a:defRPr sz="1050" b="0">
                <a:solidFill>
                  <a:srgbClr val="1E293B"/>
                </a:solidFill>
                <a:latin typeface="Arial"/>
              </a:defRPr>
            </a:pPr>
            <a:r>
              <a:t>•  Nguyên tắc 1: AI không thay thế việc khám chữa bệnh trực tiếp của Bác sĩ.</a:t>
            </a:r>
          </a:p>
          <a:p>
            <a:pPr algn="l">
              <a:spcAft>
                <a:spcPts val="400"/>
              </a:spcAft>
              <a:defRPr sz="1050" b="0">
                <a:solidFill>
                  <a:srgbClr val="1E293B"/>
                </a:solidFill>
                <a:latin typeface="Arial"/>
              </a:defRPr>
            </a:pPr>
            <a:r>
              <a:t>•  Nguyên tắc 2: AI tuyệt đối không tự kê đơn thuốc điều trị đặc trị.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3. Trí Tuệ Nhân Tạo (AI) Trong Dự Án Hoạt Động Thế Nào?</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ỨNG DỤNG AI THIẾT THỰC - DỄ HIỂU - CHUẨN Y TẾ</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Hai Công Nghệ AI Cốt Lõi Được Dùng</a:t>
            </a:r>
          </a:p>
          <a:p>
            <a:pPr algn="l">
              <a:spcAft>
                <a:spcPts val="400"/>
              </a:spcAft>
              <a:defRPr sz="1050" b="0">
                <a:solidFill>
                  <a:srgbClr val="1E293B"/>
                </a:solidFill>
                <a:latin typeface="Arial"/>
              </a:defRPr>
            </a:pPr>
            <a:r>
              <a:t>•  Mô hình Trí tuệ Nhân tạo Ngôn ngữ (Google Gemini):</a:t>
            </a:r>
          </a:p>
          <a:p>
            <a:pPr algn="l">
              <a:spcAft>
                <a:spcPts val="400"/>
              </a:spcAft>
              <a:defRPr sz="1050" b="0">
                <a:solidFill>
                  <a:srgbClr val="1E293B"/>
                </a:solidFill>
                <a:latin typeface="Arial"/>
              </a:defRPr>
            </a:pPr>
            <a:r>
              <a:t>•    → Đóng vai trò bộ não biết đọc hiểu và trò chuyện tự nhiên bằng tiếng Việt.</a:t>
            </a:r>
          </a:p>
          <a:p>
            <a:pPr algn="l">
              <a:spcAft>
                <a:spcPts val="400"/>
              </a:spcAft>
              <a:defRPr sz="1050" b="0">
                <a:solidFill>
                  <a:srgbClr val="1E293B"/>
                </a:solidFill>
                <a:latin typeface="Arial"/>
              </a:defRPr>
            </a:pPr>
            <a:r>
              <a:t>•    → Phản hồi ngay các câu hỏi về ăn uống, dinh dưỡng và dấu hiệu bệnh.</a:t>
            </a:r>
          </a:p>
          <a:p>
            <a:pPr algn="l">
              <a:spcAft>
                <a:spcPts val="400"/>
              </a:spcAft>
              <a:defRPr sz="1050" b="0">
                <a:solidFill>
                  <a:srgbClr val="1E293B"/>
                </a:solidFill>
                <a:latin typeface="Arial"/>
              </a:defRPr>
            </a:pPr>
            <a:r>
              <a:t>•  Công nghệ Quét &amp; Đọc ảnh Thông minh (OCR Vision):</a:t>
            </a:r>
          </a:p>
          <a:p>
            <a:pPr algn="l">
              <a:spcAft>
                <a:spcPts val="400"/>
              </a:spcAft>
              <a:defRPr sz="1050" b="0">
                <a:solidFill>
                  <a:srgbClr val="1E293B"/>
                </a:solidFill>
                <a:latin typeface="Arial"/>
              </a:defRPr>
            </a:pPr>
            <a:r>
              <a:t>•    → Tự động đọc chữ từ ảnh chụp sổ tiêm phòng hoặc phiếu xét nghiệm.</a:t>
            </a:r>
          </a:p>
          <a:p>
            <a:pPr algn="l">
              <a:spcAft>
                <a:spcPts val="400"/>
              </a:spcAft>
              <a:defRPr sz="1050" b="0">
                <a:solidFill>
                  <a:srgbClr val="1E293B"/>
                </a:solidFill>
                <a:latin typeface="Arial"/>
              </a:defRPr>
            </a:pPr>
            <a:r>
              <a:t>•    → Nhập tự động tên vắc-xin và ngày tiêm vào máy, không cần gõ tay.</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Cách Huấn Luyện &amp; Chỉ Dẫn Cho AI</a:t>
            </a:r>
          </a:p>
          <a:p>
            <a:pPr algn="l">
              <a:spcAft>
                <a:spcPts val="400"/>
              </a:spcAft>
              <a:defRPr sz="1050" b="0">
                <a:solidFill>
                  <a:srgbClr val="1E293B"/>
                </a:solidFill>
                <a:latin typeface="Arial"/>
              </a:defRPr>
            </a:pPr>
            <a:r>
              <a:t>•  Đặt vai trò cho AI:</a:t>
            </a:r>
          </a:p>
          <a:p>
            <a:pPr algn="l">
              <a:spcAft>
                <a:spcPts val="400"/>
              </a:spcAft>
              <a:defRPr sz="1050" b="0">
                <a:solidFill>
                  <a:srgbClr val="1E293B"/>
                </a:solidFill>
                <a:latin typeface="Arial"/>
              </a:defRPr>
            </a:pPr>
            <a:r>
              <a:t>•    → Luôn cư xử như một Bác sĩ Thú y thân thiện, cẩn thận và điềm tĩnh.</a:t>
            </a:r>
          </a:p>
          <a:p>
            <a:pPr algn="l">
              <a:spcAft>
                <a:spcPts val="400"/>
              </a:spcAft>
              <a:defRPr sz="1050" b="0">
                <a:solidFill>
                  <a:srgbClr val="1E293B"/>
                </a:solidFill>
                <a:latin typeface="Arial"/>
              </a:defRPr>
            </a:pPr>
            <a:r>
              <a:t>•  Tự động bổ sung thông tin thú cưng:</a:t>
            </a:r>
          </a:p>
          <a:p>
            <a:pPr algn="l">
              <a:spcAft>
                <a:spcPts val="400"/>
              </a:spcAft>
              <a:defRPr sz="1050" b="0">
                <a:solidFill>
                  <a:srgbClr val="1E293B"/>
                </a:solidFill>
                <a:latin typeface="Arial"/>
              </a:defRPr>
            </a:pPr>
            <a:r>
              <a:t>•    → Khi hỏi, hệ thống tự gắn sẵn (Tên, Giống loài, Cân nặng, Tuổi) vào câu hỏi.</a:t>
            </a:r>
          </a:p>
          <a:p>
            <a:pPr algn="l">
              <a:spcAft>
                <a:spcPts val="400"/>
              </a:spcAft>
              <a:defRPr sz="1050" b="0">
                <a:solidFill>
                  <a:srgbClr val="1E293B"/>
                </a:solidFill>
                <a:latin typeface="Arial"/>
              </a:defRPr>
            </a:pPr>
            <a:r>
              <a:t>•  Bộ định tuyến câu hỏi nhanh:</a:t>
            </a:r>
          </a:p>
          <a:p>
            <a:pPr algn="l">
              <a:spcAft>
                <a:spcPts val="400"/>
              </a:spcAft>
              <a:defRPr sz="1050" b="0">
                <a:solidFill>
                  <a:srgbClr val="1E293B"/>
                </a:solidFill>
                <a:latin typeface="Arial"/>
              </a:defRPr>
            </a:pPr>
            <a:r>
              <a:t>•    → Trả lời siêu tốc trong 0.05 giây với các câu hỏi thường gặp về chăm sóc.</a:t>
            </a:r>
          </a:p>
          <a:p>
            <a:pPr algn="l">
              <a:spcAft>
                <a:spcPts val="400"/>
              </a:spcAft>
              <a:defRPr sz="1050" b="0">
                <a:solidFill>
                  <a:srgbClr val="1E293B"/>
                </a:solidFill>
                <a:latin typeface="Arial"/>
              </a:defRPr>
            </a:pPr>
            <a:r>
              <a:t>•  Cảnh báo trách nhiệm y tế:</a:t>
            </a:r>
          </a:p>
          <a:p>
            <a:pPr algn="l">
              <a:spcAft>
                <a:spcPts val="400"/>
              </a:spcAft>
              <a:defRPr sz="1050" b="0">
                <a:solidFill>
                  <a:srgbClr val="1E293B"/>
                </a:solidFill>
                <a:latin typeface="Arial"/>
              </a:defRPr>
            </a:pPr>
            <a:r>
              <a:t>•    → Luôn nhắc nhở chủ nuôi đưa thú cưng đến viện nếu có dấu hiệu nặng.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4. Ba Lớp Bảo Vệ An Toàn Sức Khỏe Cho Thú Cưng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CHỐT CHẶN NGHIÊM NGẶT - LOẠI BỎ HOÀN TOÀN NGUY CƠ TƯ VẤN SAI</a:t>
            </a:r>
          </a:p>
        </p:txBody>
      </p:sp>
      <p:sp>
        <p:nvSpPr>
          <p:cNvPr id="4" name="Rounded Rectangle 3"/>
          <p:cNvSpPr/>
          <p:nvPr/>
        </p:nvSpPr>
        <p:spPr>
          <a:xfrm>
            <a:off x="548640" y="1005840"/>
            <a:ext cx="25603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Lớp 1: Đúng Chuyên Môn</a:t>
            </a:r>
          </a:p>
          <a:p>
            <a:pPr algn="l">
              <a:spcAft>
                <a:spcPts val="400"/>
              </a:spcAft>
              <a:defRPr sz="1050" b="0">
                <a:solidFill>
                  <a:srgbClr val="1E293B"/>
                </a:solidFill>
                <a:latin typeface="Arial"/>
              </a:defRPr>
            </a:pPr>
            <a:r>
              <a:t>•  Chỉ trả lời về thú cưng và thú y.</a:t>
            </a:r>
          </a:p>
          <a:p>
            <a:pPr algn="l">
              <a:spcAft>
                <a:spcPts val="400"/>
              </a:spcAft>
              <a:defRPr sz="1050" b="0">
                <a:solidFill>
                  <a:srgbClr val="1E293B"/>
                </a:solidFill>
                <a:latin typeface="Arial"/>
              </a:defRPr>
            </a:pPr>
            <a:r>
              <a:t>•  Lịch sự từ chối các câu hỏi lạc đề (chính trị, lập trình, giải trí,...).</a:t>
            </a:r>
          </a:p>
          <a:p>
            <a:pPr algn="l">
              <a:spcAft>
                <a:spcPts val="400"/>
              </a:spcAft>
              <a:defRPr sz="1050" b="0">
                <a:solidFill>
                  <a:srgbClr val="1E293B"/>
                </a:solidFill>
                <a:latin typeface="Arial"/>
              </a:defRPr>
            </a:pPr>
            <a:r>
              <a:t>•  Giúp câu trả lời luôn tập trung vào sức khỏe thú cưng.</a:t>
            </a:r>
          </a:p>
        </p:txBody>
      </p:sp>
      <p:sp>
        <p:nvSpPr>
          <p:cNvPr id="5" name="Rounded Rectangle 4"/>
          <p:cNvSpPr/>
          <p:nvPr/>
        </p:nvSpPr>
        <p:spPr>
          <a:xfrm>
            <a:off x="3291840" y="1005840"/>
            <a:ext cx="2560320" cy="3108960"/>
          </a:xfrm>
          <a:prstGeom prst="roundRect">
            <a:avLst/>
          </a:prstGeom>
          <a:solidFill>
            <a:srgbClr val="F8FAFC"/>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DC2626"/>
                </a:solidFill>
                <a:latin typeface="Arial"/>
              </a:defRPr>
            </a:pPr>
            <a:r>
              <a:t>Lớp 2: Báo Động Cấp Cứu</a:t>
            </a:r>
          </a:p>
          <a:p>
            <a:pPr algn="l">
              <a:spcAft>
                <a:spcPts val="400"/>
              </a:spcAft>
              <a:defRPr sz="1050" b="0">
                <a:solidFill>
                  <a:srgbClr val="1E293B"/>
                </a:solidFill>
                <a:latin typeface="Arial"/>
              </a:defRPr>
            </a:pPr>
            <a:r>
              <a:t>•  Nhận diện ngay các từ nguy cấp: co giật, khó thở, sốc nhiệt, ngộ độc bả.</a:t>
            </a:r>
          </a:p>
          <a:p>
            <a:pPr algn="l">
              <a:spcAft>
                <a:spcPts val="400"/>
              </a:spcAft>
              <a:defRPr sz="1050" b="0">
                <a:solidFill>
                  <a:srgbClr val="1E293B"/>
                </a:solidFill>
                <a:latin typeface="Arial"/>
              </a:defRPr>
            </a:pPr>
            <a:r>
              <a:t>•  Bật khung cảnh báo ĐỎ khẩn cấp.</a:t>
            </a:r>
          </a:p>
          <a:p>
            <a:pPr algn="l">
              <a:spcAft>
                <a:spcPts val="400"/>
              </a:spcAft>
              <a:defRPr sz="1050" b="0">
                <a:solidFill>
                  <a:srgbClr val="1E293B"/>
                </a:solidFill>
                <a:latin typeface="Arial"/>
              </a:defRPr>
            </a:pPr>
            <a:r>
              <a:t>•  Chỉ dẫn các bước sơ cứu tức thời và hiện số hotline phòng khám ngay.</a:t>
            </a:r>
          </a:p>
        </p:txBody>
      </p:sp>
      <p:sp>
        <p:nvSpPr>
          <p:cNvPr id="6" name="Rounded Rectangle 5"/>
          <p:cNvSpPr/>
          <p:nvPr/>
        </p:nvSpPr>
        <p:spPr>
          <a:xfrm>
            <a:off x="6035040" y="1005840"/>
            <a:ext cx="25603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Lớp 3: Cấm Kê Đơn Thuốc</a:t>
            </a:r>
          </a:p>
          <a:p>
            <a:pPr algn="l">
              <a:spcAft>
                <a:spcPts val="400"/>
              </a:spcAft>
              <a:defRPr sz="1050" b="0">
                <a:solidFill>
                  <a:srgbClr val="1E293B"/>
                </a:solidFill>
                <a:latin typeface="Arial"/>
              </a:defRPr>
            </a:pPr>
            <a:r>
              <a:t>•  Nghiêm cấm AI tự cho liều lượng thuốc đặc trị (kháng sinh, giảm đau nặng).</a:t>
            </a:r>
          </a:p>
          <a:p>
            <a:pPr algn="l">
              <a:spcAft>
                <a:spcPts val="400"/>
              </a:spcAft>
              <a:defRPr sz="1050" b="0">
                <a:solidFill>
                  <a:srgbClr val="1E293B"/>
                </a:solidFill>
                <a:latin typeface="Arial"/>
              </a:defRPr>
            </a:pPr>
            <a:r>
              <a:t>•  Tránh nguy cơ thú cưng bị ngộ độc do dùng sai liều lượng.</a:t>
            </a:r>
          </a:p>
          <a:p>
            <a:pPr algn="l">
              <a:spcAft>
                <a:spcPts val="400"/>
              </a:spcAft>
              <a:defRPr sz="1050" b="0">
                <a:solidFill>
                  <a:srgbClr val="1E293B"/>
                </a:solidFill>
                <a:latin typeface="Arial"/>
              </a:defRPr>
            </a:pPr>
            <a:r>
              <a:t>•  Khuyên chủ đưa đi khám bác sĩ để được kiểm tra trực tiếp.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5. Kiến Trúc Hệ Thống Đơn Giản &amp; Hiệu Quả</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4 TẦNG HOẠT ĐỘNG LIỀN MẠCH - TỐC ĐỘ NHANH - DỄ NÂNG CẤP</a:t>
            </a:r>
          </a:p>
        </p:txBody>
      </p:sp>
      <p:sp>
        <p:nvSpPr>
          <p:cNvPr id="4" name="Rounded Rectangle 3"/>
          <p:cNvSpPr/>
          <p:nvPr/>
        </p:nvSpPr>
        <p:spPr>
          <a:xfrm>
            <a:off x="548640" y="1005840"/>
            <a:ext cx="356616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Các Bộ Phận Chính Của Hệ Thống</a:t>
            </a:r>
          </a:p>
          <a:p>
            <a:pPr algn="l">
              <a:spcAft>
                <a:spcPts val="400"/>
              </a:spcAft>
              <a:defRPr sz="1050" b="0">
                <a:solidFill>
                  <a:srgbClr val="1E293B"/>
                </a:solidFill>
                <a:latin typeface="Arial"/>
              </a:defRPr>
            </a:pPr>
            <a:r>
              <a:t>•  Giao diện người dùng (Next.js): Rõ ràng, dễ bấm trên cả máy tính và điện thoại.</a:t>
            </a:r>
          </a:p>
          <a:p>
            <a:pPr algn="l">
              <a:spcAft>
                <a:spcPts val="400"/>
              </a:spcAft>
              <a:defRPr sz="1050" b="0">
                <a:solidFill>
                  <a:srgbClr val="1E293B"/>
                </a:solidFill>
                <a:latin typeface="Arial"/>
              </a:defRPr>
            </a:pPr>
            <a:r>
              <a:t>•  Máy chủ xử lý (FastAPI Python): Tiếp nhận dữ liệu nhanh, bảo mật thông tin an toàn.</a:t>
            </a:r>
          </a:p>
          <a:p>
            <a:pPr algn="l">
              <a:spcAft>
                <a:spcPts val="400"/>
              </a:spcAft>
              <a:defRPr sz="1050" b="0">
                <a:solidFill>
                  <a:srgbClr val="1E293B"/>
                </a:solidFill>
                <a:latin typeface="Arial"/>
              </a:defRPr>
            </a:pPr>
            <a:r>
              <a:t>•  Cơ sở dữ liệu (PostgreSQL): Lưu trữ sổ tiêm, đơn thuốc, lịch hẹn và hóa đơn.</a:t>
            </a:r>
          </a:p>
          <a:p>
            <a:pPr algn="l">
              <a:spcAft>
                <a:spcPts val="400"/>
              </a:spcAft>
              <a:defRPr sz="1050" b="0">
                <a:solidFill>
                  <a:srgbClr val="1E293B"/>
                </a:solidFill>
                <a:latin typeface="Arial"/>
              </a:defRPr>
            </a:pPr>
            <a:r>
              <a:t>•  Bộ tăng tốc (Redis): Giúp tải trang và nhận tin nhắn phản hồi dưới 1 giây.</a:t>
            </a:r>
          </a:p>
          <a:p>
            <a:pPr algn="l">
              <a:spcAft>
                <a:spcPts val="400"/>
              </a:spcAft>
              <a:defRPr sz="1050" b="0">
                <a:solidFill>
                  <a:srgbClr val="1E293B"/>
                </a:solidFill>
                <a:latin typeface="Arial"/>
              </a:defRPr>
            </a:pPr>
            <a:r>
              <a:t>•  Khám bệnh từ xa (Video Call): Bác sĩ và chủ nuôi có thể gọi video trực tiếp khi cần.</a:t>
            </a:r>
          </a:p>
        </p:txBody>
      </p:sp>
      <p:pic>
        <p:nvPicPr>
          <p:cNvPr id="5" name="Picture 4" descr="system_architecture.png"/>
          <p:cNvPicPr>
            <a:picLocks noChangeAspect="1"/>
          </p:cNvPicPr>
          <p:nvPr/>
        </p:nvPicPr>
        <p:blipFill>
          <a:blip r:embed="rId3"/>
          <a:stretch>
            <a:fillRect/>
          </a:stretch>
        </p:blipFill>
        <p:spPr>
          <a:xfrm>
            <a:off x="4297680" y="1005840"/>
            <a:ext cx="4297680" cy="3108960"/>
          </a:xfrm>
          <a:prstGeom prst="rect">
            <a:avLst/>
          </a:prstGeom>
        </p:spPr>
      </p:pic>
      <p:sp>
        <p:nvSpPr>
          <p:cNvPr id="6" name="TextBox 5"/>
          <p:cNvSpPr txBox="1"/>
          <p:nvPr/>
        </p:nvSpPr>
        <p:spPr>
          <a:xfrm>
            <a:off x="4297680" y="4160520"/>
            <a:ext cx="4297680" cy="274320"/>
          </a:xfrm>
          <a:prstGeom prst="rect">
            <a:avLst/>
          </a:prstGeom>
          <a:noFill/>
        </p:spPr>
        <p:txBody>
          <a:bodyPr wrap="none">
            <a:spAutoFit/>
          </a:bodyPr>
          <a:lstStyle/>
          <a:p>
            <a:pPr algn="ctr">
              <a:defRPr sz="850" b="0">
                <a:solidFill>
                  <a:srgbClr val="64748B"/>
                </a:solidFill>
                <a:latin typeface="Arial"/>
              </a:defRPr>
            </a:pPr>
            <a:r>
              <a:t>Sơ đồ Kiến trúc 4 tầng của PetCare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6. Cơ Sở Dữ Liệu Được Tổ Chức Khoa Học (34 Bảng Dữ Liệu)</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QUẢN LÝ ĐẦY ĐỦ MỌI HOẠT ĐỘNG CỦA BỆNH VIỆN THÚ Y</a:t>
            </a:r>
          </a:p>
        </p:txBody>
      </p:sp>
      <p:sp>
        <p:nvSpPr>
          <p:cNvPr id="4" name="Rounded Rectangle 3"/>
          <p:cNvSpPr/>
          <p:nvPr/>
        </p:nvSpPr>
        <p:spPr>
          <a:xfrm>
            <a:off x="548640" y="100584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Nhóm 1: Người Dùng &amp; Phân Quyền</a:t>
            </a:r>
          </a:p>
          <a:p>
            <a:pPr algn="l">
              <a:spcAft>
                <a:spcPts val="400"/>
              </a:spcAft>
              <a:defRPr sz="1050" b="0">
                <a:solidFill>
                  <a:srgbClr val="1E293B"/>
                </a:solidFill>
                <a:latin typeface="Arial"/>
              </a:defRPr>
            </a:pPr>
            <a:r>
              <a:t>•  Tài khoản 5 nhóm người (Khách, Bác sĩ, Lễ tân, Điều dưỡng, Admin)</a:t>
            </a:r>
          </a:p>
          <a:p>
            <a:pPr algn="l">
              <a:spcAft>
                <a:spcPts val="400"/>
              </a:spcAft>
              <a:defRPr sz="1050" b="0">
                <a:solidFill>
                  <a:srgbClr val="1E293B"/>
                </a:solidFill>
                <a:latin typeface="Arial"/>
              </a:defRPr>
            </a:pPr>
            <a:r>
              <a:t>•  Đăng nhập bảo mật, phân quyền ai làm việc nấy</a:t>
            </a:r>
          </a:p>
        </p:txBody>
      </p:sp>
      <p:sp>
        <p:nvSpPr>
          <p:cNvPr id="5" name="Rounded Rectangle 4"/>
          <p:cNvSpPr/>
          <p:nvPr/>
        </p:nvSpPr>
        <p:spPr>
          <a:xfrm>
            <a:off x="4663440" y="100584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Nhóm 2: Hồ Sơ Thú Cưng &amp; Sổ Tiêm</a:t>
            </a:r>
          </a:p>
          <a:p>
            <a:pPr algn="l">
              <a:spcAft>
                <a:spcPts val="400"/>
              </a:spcAft>
              <a:defRPr sz="1050" b="0">
                <a:solidFill>
                  <a:srgbClr val="1E293B"/>
                </a:solidFill>
                <a:latin typeface="Arial"/>
              </a:defRPr>
            </a:pPr>
            <a:r>
              <a:t>•  Lưu giống loài, ngày sinh, cân nặng, mã định danh</a:t>
            </a:r>
          </a:p>
          <a:p>
            <a:pPr algn="l">
              <a:spcAft>
                <a:spcPts val="400"/>
              </a:spcAft>
              <a:defRPr sz="1050" b="0">
                <a:solidFill>
                  <a:srgbClr val="1E293B"/>
                </a:solidFill>
                <a:latin typeface="Arial"/>
              </a:defRPr>
            </a:pPr>
            <a:r>
              <a:t>•  Theo dõi lịch sử tiêm phòng và lịch tiêm nhắc lại</a:t>
            </a:r>
          </a:p>
        </p:txBody>
      </p:sp>
      <p:sp>
        <p:nvSpPr>
          <p:cNvPr id="6" name="Rounded Rectangle 5"/>
          <p:cNvSpPr/>
          <p:nvPr/>
        </p:nvSpPr>
        <p:spPr>
          <a:xfrm>
            <a:off x="548640" y="265176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D97706"/>
                </a:solidFill>
                <a:latin typeface="Arial"/>
              </a:defRPr>
            </a:pPr>
            <a:r>
              <a:t>Nhóm 3: Khám Chữa Bệnh &amp; Đơn Thuốc</a:t>
            </a:r>
          </a:p>
          <a:p>
            <a:pPr algn="l">
              <a:spcAft>
                <a:spcPts val="400"/>
              </a:spcAft>
              <a:defRPr sz="1050" b="0">
                <a:solidFill>
                  <a:srgbClr val="1E293B"/>
                </a:solidFill>
                <a:latin typeface="Arial"/>
              </a:defRPr>
            </a:pPr>
            <a:r>
              <a:t>•  Lịch sử khám, kết quả chẩn đoán và phác đồ điều trị</a:t>
            </a:r>
          </a:p>
          <a:p>
            <a:pPr algn="l">
              <a:spcAft>
                <a:spcPts val="400"/>
              </a:spcAft>
              <a:defRPr sz="1050" b="0">
                <a:solidFill>
                  <a:srgbClr val="1E293B"/>
                </a:solidFill>
                <a:latin typeface="Arial"/>
              </a:defRPr>
            </a:pPr>
            <a:r>
              <a:t>•  Danh mục thuốc, hướng dẫn sử dụng và kết quả xét nghiệm</a:t>
            </a:r>
          </a:p>
        </p:txBody>
      </p:sp>
      <p:sp>
        <p:nvSpPr>
          <p:cNvPr id="7" name="Rounded Rectangle 6"/>
          <p:cNvSpPr/>
          <p:nvPr/>
        </p:nvSpPr>
        <p:spPr>
          <a:xfrm>
            <a:off x="4663440" y="265176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Nhóm 4 &amp; 5: Chăm Sóc Nằm Viện &amp; Thanh Toán</a:t>
            </a:r>
          </a:p>
          <a:p>
            <a:pPr algn="l">
              <a:spcAft>
                <a:spcPts val="400"/>
              </a:spcAft>
              <a:defRPr sz="1050" b="0">
                <a:solidFill>
                  <a:srgbClr val="1E293B"/>
                </a:solidFill>
                <a:latin typeface="Arial"/>
              </a:defRPr>
            </a:pPr>
            <a:r>
              <a:t>•  Nhật ký theo dõi thú cưng nằm viện theo từng ca trực</a:t>
            </a:r>
          </a:p>
          <a:p>
            <a:pPr algn="l">
              <a:spcAft>
                <a:spcPts val="400"/>
              </a:spcAft>
              <a:defRPr sz="1050" b="0">
                <a:solidFill>
                  <a:srgbClr val="1E293B"/>
                </a:solidFill>
                <a:latin typeface="Arial"/>
              </a:defRPr>
            </a:pPr>
            <a:r>
              <a:t>•  Lịch sử câu hỏi của AI và hóa đơn quét mã VietQR tự động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7. Phân Hệ Khách Hàng: Tiện Lợi &amp; Dễ Sử Dụng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ĐỒNG HÀNH CÙNG CHỦ NUÔI MỌI LÚC - MỌI NƠI 24/7</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Những Tiện Ích Dành Cho Chủ Nuôi</a:t>
            </a:r>
          </a:p>
          <a:p>
            <a:pPr algn="l">
              <a:spcAft>
                <a:spcPts val="400"/>
              </a:spcAft>
              <a:defRPr sz="1050" b="0">
                <a:solidFill>
                  <a:srgbClr val="1E293B"/>
                </a:solidFill>
                <a:latin typeface="Arial"/>
              </a:defRPr>
            </a:pPr>
            <a:r>
              <a:t>•  Trợ lý AI 24/7: Giải đáp nhanh mọi thắc mắc về ăn uống, dinh dưỡng và triệu chứng.</a:t>
            </a:r>
          </a:p>
          <a:p>
            <a:pPr algn="l">
              <a:spcAft>
                <a:spcPts val="400"/>
              </a:spcAft>
              <a:defRPr sz="1050" b="0">
                <a:solidFill>
                  <a:srgbClr val="1E293B"/>
                </a:solidFill>
                <a:latin typeface="Arial"/>
              </a:defRPr>
            </a:pPr>
            <a:r>
              <a:t>•  Sổ tiêm chủng điện tử: Xem lịch tiêm phòng mọi lúc ngay trên điện thoại, không lo mất sổ.</a:t>
            </a:r>
          </a:p>
          <a:p>
            <a:pPr algn="l">
              <a:spcAft>
                <a:spcPts val="400"/>
              </a:spcAft>
              <a:defRPr sz="1050" b="0">
                <a:solidFill>
                  <a:srgbClr val="1E293B"/>
                </a:solidFill>
                <a:latin typeface="Arial"/>
              </a:defRPr>
            </a:pPr>
            <a:r>
              <a:t>•  Thẻ mã QR khẩn cấp: Đeo vòng cổ, người nhặt được quét mã là gọi được cho chủ ngay.</a:t>
            </a:r>
          </a:p>
          <a:p>
            <a:pPr algn="l">
              <a:spcAft>
                <a:spcPts val="400"/>
              </a:spcAft>
              <a:defRPr sz="1050" b="0">
                <a:solidFill>
                  <a:srgbClr val="1E293B"/>
                </a:solidFill>
                <a:latin typeface="Arial"/>
              </a:defRPr>
            </a:pPr>
            <a:r>
              <a:t>•  Đặt lịch khám trước: Chọn bác sĩ và giờ khám tiện lợi, tự động có chuông nhắc hẹn.</a:t>
            </a:r>
          </a:p>
        </p:txBody>
      </p:sp>
      <p:pic>
        <p:nvPicPr>
          <p:cNvPr id="5" name="Picture 4" descr="chatbot_ui.png"/>
          <p:cNvPicPr>
            <a:picLocks noChangeAspect="1"/>
          </p:cNvPicPr>
          <p:nvPr/>
        </p:nvPicPr>
        <p:blipFill>
          <a:blip r:embed="rId3"/>
          <a:stretch>
            <a:fillRect/>
          </a:stretch>
        </p:blipFill>
        <p:spPr>
          <a:xfrm>
            <a:off x="4480560" y="1005840"/>
            <a:ext cx="4114800"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Giao diện Trợ lý AI tư vấn và cảnh báo lâm sàng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8. Phân Hệ Bác Sĩ: Khám Bệnh Nhanh &amp; Chính Xác</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BỎ HẲN SỔ GHI TAY - KHÁM BỆNH TỪ XA TIỆN LỢI QUA VIDEO</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Bệnh Án Điện Tử Tiện Lợi</a:t>
            </a:r>
          </a:p>
          <a:p>
            <a:pPr algn="l">
              <a:spcAft>
                <a:spcPts val="400"/>
              </a:spcAft>
              <a:defRPr sz="1050" b="0">
                <a:solidFill>
                  <a:srgbClr val="1E293B"/>
                </a:solidFill>
                <a:latin typeface="Arial"/>
              </a:defRPr>
            </a:pPr>
            <a:r>
              <a:t>•  Nhập liệu nhanh gọn: Triệu chứng, chẩn đoán và phác đồ điều trị.</a:t>
            </a:r>
          </a:p>
          <a:p>
            <a:pPr algn="l">
              <a:spcAft>
                <a:spcPts val="400"/>
              </a:spcAft>
              <a:defRPr sz="1050" b="0">
                <a:solidFill>
                  <a:srgbClr val="1E293B"/>
                </a:solidFill>
                <a:latin typeface="Arial"/>
              </a:defRPr>
            </a:pPr>
            <a:r>
              <a:t>•  Kê đơn thuốc tự động: Tự kiểm tra thuốc trong kho và nhắc liều lượng.</a:t>
            </a:r>
          </a:p>
          <a:p>
            <a:pPr algn="l">
              <a:spcAft>
                <a:spcPts val="400"/>
              </a:spcAft>
              <a:defRPr sz="1050" b="0">
                <a:solidFill>
                  <a:srgbClr val="1E293B"/>
                </a:solidFill>
                <a:latin typeface="Arial"/>
              </a:defRPr>
            </a:pPr>
            <a:r>
              <a:t>•  Xem lại lịch sử: Xem trọn vẹn các lần khám trước trên một trục thời gian rõ ràng.</a:t>
            </a:r>
          </a:p>
          <a:p>
            <a:pPr algn="l">
              <a:spcAft>
                <a:spcPts val="400"/>
              </a:spcAft>
              <a:defRPr sz="1050" b="0">
                <a:solidFill>
                  <a:srgbClr val="1E293B"/>
                </a:solidFill>
                <a:latin typeface="Arial"/>
              </a:defRPr>
            </a:pPr>
            <a:r>
              <a:t>•  In phiếu khám &amp; Đơn thuốc: In nhanh hoặc gửi file cho chủ nuôi chỉ với 1 cú bấm.</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Khám Bệnh Trực Tuyến Từ Xa (Video Call)</a:t>
            </a:r>
          </a:p>
          <a:p>
            <a:pPr algn="l">
              <a:spcAft>
                <a:spcPts val="400"/>
              </a:spcAft>
              <a:defRPr sz="1050" b="0">
                <a:solidFill>
                  <a:srgbClr val="1E293B"/>
                </a:solidFill>
                <a:latin typeface="Arial"/>
              </a:defRPr>
            </a:pPr>
            <a:r>
              <a:t>•  Gọi video độ nét cao trực tiếp giữa bác sĩ và chủ thú cưng.</a:t>
            </a:r>
          </a:p>
          <a:p>
            <a:pPr algn="l">
              <a:spcAft>
                <a:spcPts val="400"/>
              </a:spcAft>
              <a:defRPr sz="1050" b="0">
                <a:solidFill>
                  <a:srgbClr val="1E293B"/>
                </a:solidFill>
                <a:latin typeface="Arial"/>
              </a:defRPr>
            </a:pPr>
            <a:r>
              <a:t>•  Bác sĩ vừa quan sát thú cưng vừa ghi chép bệnh án trên cùng một màn hình.</a:t>
            </a:r>
          </a:p>
          <a:p>
            <a:pPr algn="l">
              <a:spcAft>
                <a:spcPts val="400"/>
              </a:spcAft>
              <a:defRPr sz="1050" b="0">
                <a:solidFill>
                  <a:srgbClr val="1E293B"/>
                </a:solidFill>
                <a:latin typeface="Arial"/>
              </a:defRPr>
            </a:pPr>
            <a:r>
              <a:t>•  Rất tiện lợi cho thú cưng khó đi lại, già yếu hoặc chủ ở xa.</a:t>
            </a:r>
          </a:p>
          <a:p>
            <a:pPr algn="l">
              <a:spcAft>
                <a:spcPts val="400"/>
              </a:spcAft>
              <a:defRPr sz="1050" b="0">
                <a:solidFill>
                  <a:srgbClr val="1E293B"/>
                </a:solidFill>
                <a:latin typeface="Arial"/>
              </a:defRPr>
            </a:pPr>
            <a:r>
              <a:t>•  Hỗ trợ xuất đơn thuốc và hướng dẫn chăm sóc ngay trong cuộc gọi.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9. Phân Hệ Lễ Tân: Tiếp Đón Nhanh &amp; Thanh Toán Tự Động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RÚT NGẮN THỜI GIAN CHỜ ĐỢI - KHÔNG CẦN DÙNG TIỀN MẶT</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Tiếp Đón Nhanh &amp; Thanh Toán Tự Động</a:t>
            </a:r>
          </a:p>
          <a:p>
            <a:pPr algn="l">
              <a:spcAft>
                <a:spcPts val="400"/>
              </a:spcAft>
              <a:defRPr sz="1050" b="0">
                <a:solidFill>
                  <a:srgbClr val="1E293B"/>
                </a:solidFill>
                <a:latin typeface="Arial"/>
              </a:defRPr>
            </a:pPr>
            <a:r>
              <a:t>•  Tiếp đón trong 30 giây: Tra cứu hồ sơ nhanh qua số điện thoại hoặc mã hẹn.</a:t>
            </a:r>
          </a:p>
          <a:p>
            <a:pPr algn="l">
              <a:spcAft>
                <a:spcPts val="400"/>
              </a:spcAft>
              <a:defRPr sz="1050" b="0">
                <a:solidFill>
                  <a:srgbClr val="1E293B"/>
                </a:solidFill>
                <a:latin typeface="Arial"/>
              </a:defRPr>
            </a:pPr>
            <a:r>
              <a:t>•  Phân phòng khám tự động: Tự xếp thú cưng vào phòng bác sĩ đang sẵn sàng.</a:t>
            </a:r>
          </a:p>
          <a:p>
            <a:pPr algn="l">
              <a:spcAft>
                <a:spcPts val="400"/>
              </a:spcAft>
              <a:defRPr sz="1050" b="0">
                <a:solidFill>
                  <a:srgbClr val="1E293B"/>
                </a:solidFill>
                <a:latin typeface="Arial"/>
              </a:defRPr>
            </a:pPr>
            <a:r>
              <a:t>•  Quét mã VietQR tiện lợi: Tự điền chính xác số tiền và nội dung thanh toán.</a:t>
            </a:r>
          </a:p>
          <a:p>
            <a:pPr algn="l">
              <a:spcAft>
                <a:spcPts val="400"/>
              </a:spcAft>
              <a:defRPr sz="1050" b="0">
                <a:solidFill>
                  <a:srgbClr val="1E293B"/>
                </a:solidFill>
                <a:latin typeface="Arial"/>
              </a:defRPr>
            </a:pPr>
            <a:r>
              <a:t>•  Tự động gạch nợ: Tiền vào tài khoản là hệ thống tự nhận và in phiếu thu ngay.</a:t>
            </a:r>
          </a:p>
        </p:txBody>
      </p:sp>
      <p:pic>
        <p:nvPicPr>
          <p:cNvPr id="5" name="Picture 4" descr="receptionist_ui.png"/>
          <p:cNvPicPr>
            <a:picLocks noChangeAspect="1"/>
          </p:cNvPicPr>
          <p:nvPr/>
        </p:nvPicPr>
        <p:blipFill>
          <a:blip r:embed="rId3"/>
          <a:stretch>
            <a:fillRect/>
          </a:stretch>
        </p:blipFill>
        <p:spPr>
          <a:xfrm>
            <a:off x="4480560" y="1005840"/>
            <a:ext cx="4114800"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Màn hình tiếp đón lễ tân và điều phối khám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10. Phân Hệ Điều Dưỡng: Chăm Sóc Nội Trú Chu Đáo</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THEO DÕI THÚ CƯNG NẰM VIỆN &amp; AI TỰ ĐỘNG TÓM TẮT 30 GIÂY</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Chăm Sóc Nằm Viện &amp; Tóm Tắt AI</a:t>
            </a:r>
          </a:p>
          <a:p>
            <a:pPr algn="l">
              <a:spcAft>
                <a:spcPts val="400"/>
              </a:spcAft>
              <a:defRPr sz="1050" b="0">
                <a:solidFill>
                  <a:srgbClr val="1E293B"/>
                </a:solidFill>
                <a:latin typeface="Arial"/>
              </a:defRPr>
            </a:pPr>
            <a:r>
              <a:t>•  Nhật ký chăm sóc theo ca: Cập nhật thân nhiệt, thức ăn, uống thuốc và dịch truyền.</a:t>
            </a:r>
          </a:p>
          <a:p>
            <a:pPr algn="l">
              <a:spcAft>
                <a:spcPts val="400"/>
              </a:spcAft>
              <a:defRPr sz="1050" b="0">
                <a:solidFill>
                  <a:srgbClr val="1E293B"/>
                </a:solidFill>
                <a:latin typeface="Arial"/>
              </a:defRPr>
            </a:pPr>
            <a:r>
              <a:t>•  AI tóm tắt diễn biến (AI Care Brief): Tự động tổng hợp nhật ký 24 giờ của thú cưng.</a:t>
            </a:r>
          </a:p>
          <a:p>
            <a:pPr algn="l">
              <a:spcAft>
                <a:spcPts val="400"/>
              </a:spcAft>
              <a:defRPr sz="1050" b="0">
                <a:solidFill>
                  <a:srgbClr val="1E293B"/>
                </a:solidFill>
                <a:latin typeface="Arial"/>
              </a:defRPr>
            </a:pPr>
            <a:r>
              <a:t>•  Bàn giao ca trực siêu nhanh: Bác sĩ chỉ cần 30 giây là nắm rõ bệnh nhân đang khá lên hay yếu đi.</a:t>
            </a:r>
          </a:p>
          <a:p>
            <a:pPr algn="l">
              <a:spcAft>
                <a:spcPts val="400"/>
              </a:spcAft>
              <a:defRPr sz="1050" b="0">
                <a:solidFill>
                  <a:srgbClr val="1E293B"/>
                </a:solidFill>
                <a:latin typeface="Arial"/>
              </a:defRPr>
            </a:pPr>
            <a:r>
              <a:t>•  Cập nhật cho gia chủ: Gửi thông báo và hình ảnh để chủ nuôi ở nhà hoàn toàn an tâm.</a:t>
            </a:r>
          </a:p>
        </p:txBody>
      </p:sp>
      <p:pic>
        <p:nvPicPr>
          <p:cNvPr id="5" name="Picture 4" descr="ai_care_brief.png"/>
          <p:cNvPicPr>
            <a:picLocks noChangeAspect="1"/>
          </p:cNvPicPr>
          <p:nvPr/>
        </p:nvPicPr>
        <p:blipFill>
          <a:blip r:embed="rId3"/>
          <a:stretch>
            <a:fillRect/>
          </a:stretch>
        </p:blipFill>
        <p:spPr>
          <a:xfrm>
            <a:off x="4480560" y="1005840"/>
            <a:ext cx="4114800"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Cửa sổ AI Care Brief tự động trích xuất diễn biến phục hồi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11. Phân Hệ Quản Trị: Nắm Bắt Toàn Diện Phòng Khám</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QUẢN LÝ KHO DƯỢC &amp; BIỂU ĐỒ DOANH THU TRỰC QUAN</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Quản Lý Hoạt Động &amp; Kho Dược</a:t>
            </a:r>
          </a:p>
          <a:p>
            <a:pPr algn="l">
              <a:spcAft>
                <a:spcPts val="400"/>
              </a:spcAft>
              <a:defRPr sz="1050" b="0">
                <a:solidFill>
                  <a:srgbClr val="1E293B"/>
                </a:solidFill>
                <a:latin typeface="Arial"/>
              </a:defRPr>
            </a:pPr>
            <a:r>
              <a:t>•  Phân quyền nhân viên: Bác sĩ, lễ tân, điều dưỡng làm đúng vai trò của mình.</a:t>
            </a:r>
          </a:p>
          <a:p>
            <a:pPr algn="l">
              <a:spcAft>
                <a:spcPts val="400"/>
              </a:spcAft>
              <a:defRPr sz="1050" b="0">
                <a:solidFill>
                  <a:srgbClr val="1E293B"/>
                </a:solidFill>
                <a:latin typeface="Arial"/>
              </a:defRPr>
            </a:pPr>
            <a:r>
              <a:t>•  Theo dõi kho thuốc &amp; Vắc-xin: Tự động cảnh báo khi thuốc sắp hết hoặc cận ngày hết hạn.</a:t>
            </a:r>
          </a:p>
          <a:p>
            <a:pPr algn="l">
              <a:spcAft>
                <a:spcPts val="400"/>
              </a:spcAft>
              <a:defRPr sz="1050" b="0">
                <a:solidFill>
                  <a:srgbClr val="1E293B"/>
                </a:solidFill>
                <a:latin typeface="Arial"/>
              </a:defRPr>
            </a:pPr>
            <a:r>
              <a:t>•  Ghi nhận lịch sử thao tác: Tránh nhầm lẫn, bảo đảm minh bạch số liệu.</a:t>
            </a:r>
          </a:p>
          <a:p>
            <a:pPr algn="l">
              <a:spcAft>
                <a:spcPts val="400"/>
              </a:spcAft>
              <a:defRPr sz="1050" b="0">
                <a:solidFill>
                  <a:srgbClr val="1E293B"/>
                </a:solidFill>
                <a:latin typeface="Arial"/>
              </a:defRPr>
            </a:pPr>
            <a:r>
              <a:t>•  Cài đặt linh hoạt: Dễ dàng thêm dịch vụ, bảng giá hoặc giờ làm việc mới.</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Báo Cáo &amp; Thống Kê Trực Quan</a:t>
            </a:r>
          </a:p>
          <a:p>
            <a:pPr algn="l">
              <a:spcAft>
                <a:spcPts val="400"/>
              </a:spcAft>
              <a:defRPr sz="1050" b="0">
                <a:solidFill>
                  <a:srgbClr val="1E293B"/>
                </a:solidFill>
                <a:latin typeface="Arial"/>
              </a:defRPr>
            </a:pPr>
            <a:r>
              <a:t>•  Biểu đồ doanh thu: Theo dõi thu chi rõ ràng theo ngày, tuần, tháng.</a:t>
            </a:r>
          </a:p>
          <a:p>
            <a:pPr algn="l">
              <a:spcAft>
                <a:spcPts val="400"/>
              </a:spcAft>
              <a:defRPr sz="1050" b="0">
                <a:solidFill>
                  <a:srgbClr val="1E293B"/>
                </a:solidFill>
                <a:latin typeface="Arial"/>
              </a:defRPr>
            </a:pPr>
            <a:r>
              <a:t>•  Thống kê bệnh thường gặp: Giúp phòng khám chủ động nhập sẵn thuốc điều trị.</a:t>
            </a:r>
          </a:p>
          <a:p>
            <a:pPr algn="l">
              <a:spcAft>
                <a:spcPts val="400"/>
              </a:spcAft>
              <a:defRPr sz="1050" b="0">
                <a:solidFill>
                  <a:srgbClr val="1E293B"/>
                </a:solidFill>
                <a:latin typeface="Arial"/>
              </a:defRPr>
            </a:pPr>
            <a:r>
              <a:t>•  Đo lường năng suất làm việc: Đếm số ca khám của từng bác sĩ trong tháng.</a:t>
            </a:r>
          </a:p>
          <a:p>
            <a:pPr algn="l">
              <a:spcAft>
                <a:spcPts val="400"/>
              </a:spcAft>
              <a:defRPr sz="1050" b="0">
                <a:solidFill>
                  <a:srgbClr val="1E293B"/>
                </a:solidFill>
                <a:latin typeface="Arial"/>
              </a:defRPr>
            </a:pPr>
            <a:r>
              <a:t>•  Mức độ hài lòng của khách: Thống kê số lượng khách hàng quay lại phòng khám.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12. Kết Quả Thử Nghiệm Thực Tế Của Hệ Thống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THỬ NGHIỆM NGHIÊM TÚC - HOẠT ĐỘNG ỔN ĐỊNH - AN TOÀN 100%</a:t>
            </a:r>
          </a:p>
        </p:txBody>
      </p:sp>
      <p:graphicFrame>
        <p:nvGraphicFramePr>
          <p:cNvPr id="4" name="Table 3"/>
          <p:cNvGraphicFramePr>
            <a:graphicFrameLocks noGrp="1"/>
          </p:cNvGraphicFramePr>
          <p:nvPr/>
        </p:nvGraphicFramePr>
        <p:xfrm>
          <a:off x="548640" y="1005840"/>
          <a:ext cx="8046720" cy="2011680"/>
        </p:xfrm>
        <a:graphic>
          <a:graphicData uri="http://schemas.openxmlformats.org/drawingml/2006/table">
            <a:tbl>
              <a:tblPr firstRow="1" bandRow="1">
                <a:tableStyleId>{5C22544A-7EE6-4342-B048-85BDC9FD1C3A}</a:tableStyleId>
              </a:tblPr>
              <a:tblGrid>
                <a:gridCol w="1188720"/>
                <a:gridCol w="3291840"/>
                <a:gridCol w="2286000"/>
                <a:gridCol w="1280160"/>
              </a:tblGrid>
              <a:tr h="287382">
                <a:tc>
                  <a:txBody>
                    <a:bodyPr/>
                    <a:lstStyle/>
                    <a:p>
                      <a:pPr algn="l">
                        <a:defRPr sz="1050" b="1">
                          <a:solidFill>
                            <a:srgbClr val="FFFFFF"/>
                          </a:solidFill>
                          <a:latin typeface="Arial"/>
                        </a:defRPr>
                      </a:pPr>
                      <a:r>
                        <a:t>Mã Thử</a:t>
                      </a:r>
                    </a:p>
                  </a:txBody>
                  <a:tcPr>
                    <a:solidFill>
                      <a:srgbClr val="0E387A"/>
                    </a:solidFill>
                  </a:tcPr>
                </a:tc>
                <a:tc>
                  <a:txBody>
                    <a:bodyPr/>
                    <a:lstStyle/>
                    <a:p>
                      <a:pPr algn="l">
                        <a:defRPr sz="1050" b="1">
                          <a:solidFill>
                            <a:srgbClr val="FFFFFF"/>
                          </a:solidFill>
                          <a:latin typeface="Arial"/>
                        </a:defRPr>
                      </a:pPr>
                      <a:r>
                        <a:t>Tình Huống Thực Tế</a:t>
                      </a:r>
                    </a:p>
                  </a:txBody>
                  <a:tcPr>
                    <a:solidFill>
                      <a:srgbClr val="0E387A"/>
                    </a:solidFill>
                  </a:tcPr>
                </a:tc>
                <a:tc>
                  <a:txBody>
                    <a:bodyPr/>
                    <a:lstStyle/>
                    <a:p>
                      <a:pPr algn="l">
                        <a:defRPr sz="1050" b="1">
                          <a:solidFill>
                            <a:srgbClr val="FFFFFF"/>
                          </a:solidFill>
                          <a:latin typeface="Arial"/>
                        </a:defRPr>
                      </a:pPr>
                      <a:r>
                        <a:t>Yêu Cầu Kết Quả</a:t>
                      </a:r>
                    </a:p>
                  </a:txBody>
                  <a:tcPr>
                    <a:solidFill>
                      <a:srgbClr val="0E387A"/>
                    </a:solidFill>
                  </a:tcPr>
                </a:tc>
                <a:tc>
                  <a:txBody>
                    <a:bodyPr/>
                    <a:lstStyle/>
                    <a:p>
                      <a:pPr algn="l">
                        <a:defRPr sz="1050" b="1">
                          <a:solidFill>
                            <a:srgbClr val="FFFFFF"/>
                          </a:solidFill>
                          <a:latin typeface="Arial"/>
                        </a:defRPr>
                      </a:pPr>
                      <a:r>
                        <a:t>Đánh Giá</a:t>
                      </a:r>
                    </a:p>
                  </a:txBody>
                  <a:tcPr>
                    <a:solidFill>
                      <a:srgbClr val="0E387A"/>
                    </a:solidFill>
                  </a:tcPr>
                </a:tc>
              </a:tr>
              <a:tr h="287382">
                <a:tc>
                  <a:txBody>
                    <a:bodyPr/>
                    <a:lstStyle/>
                    <a:p>
                      <a:pPr algn="l">
                        <a:defRPr sz="950" b="1">
                          <a:solidFill>
                            <a:srgbClr val="0E387A"/>
                          </a:solidFill>
                          <a:latin typeface="Arial"/>
                        </a:defRPr>
                      </a:pPr>
                      <a:r>
                        <a:t>TEST-01</a:t>
                      </a:r>
                    </a:p>
                  </a:txBody>
                  <a:tcPr/>
                </a:tc>
                <a:tc>
                  <a:txBody>
                    <a:bodyPr/>
                    <a:lstStyle/>
                    <a:p>
                      <a:pPr algn="l">
                        <a:defRPr sz="950" b="0">
                          <a:solidFill>
                            <a:srgbClr val="1E293B"/>
                          </a:solidFill>
                          <a:latin typeface="Arial"/>
                        </a:defRPr>
                      </a:pPr>
                      <a:r>
                        <a:t>Mèo bị nôn búi lông</a:t>
                      </a:r>
                    </a:p>
                  </a:txBody>
                  <a:tcPr/>
                </a:tc>
                <a:tc>
                  <a:txBody>
                    <a:bodyPr/>
                    <a:lstStyle/>
                    <a:p>
                      <a:pPr algn="l">
                        <a:defRPr sz="950" b="0">
                          <a:solidFill>
                            <a:srgbClr val="1E293B"/>
                          </a:solidFill>
                          <a:latin typeface="Arial"/>
                        </a:defRPr>
                      </a:pPr>
                      <a:r>
                        <a:t>Chỉ dẫn chế độ ăn, chải lông, không cho thuốc bừa</a:t>
                      </a:r>
                    </a:p>
                  </a:txBody>
                  <a:tcPr/>
                </a:tc>
                <a:tc>
                  <a:txBody>
                    <a:bodyPr/>
                    <a:lstStyle/>
                    <a:p>
                      <a:pPr algn="l">
                        <a:defRPr sz="950" b="1">
                          <a:solidFill>
                            <a:srgbClr val="10B981"/>
                          </a:solidFill>
                          <a:latin typeface="Arial"/>
                        </a:defRPr>
                      </a:pPr>
                      <a:r>
                        <a:t>100% ĐẠT</a:t>
                      </a:r>
                    </a:p>
                  </a:txBody>
                  <a:tcPr/>
                </a:tc>
              </a:tr>
              <a:tr h="287382">
                <a:tc>
                  <a:txBody>
                    <a:bodyPr/>
                    <a:lstStyle/>
                    <a:p>
                      <a:pPr algn="l">
                        <a:defRPr sz="950" b="1">
                          <a:solidFill>
                            <a:srgbClr val="0E387A"/>
                          </a:solidFill>
                          <a:latin typeface="Arial"/>
                        </a:defRPr>
                      </a:pPr>
                      <a:r>
                        <a:t>TEST-02</a:t>
                      </a:r>
                    </a:p>
                  </a:txBody>
                  <a:tcPr/>
                </a:tc>
                <a:tc>
                  <a:txBody>
                    <a:bodyPr/>
                    <a:lstStyle/>
                    <a:p>
                      <a:pPr algn="l">
                        <a:defRPr sz="950" b="0">
                          <a:solidFill>
                            <a:srgbClr val="1E293B"/>
                          </a:solidFill>
                          <a:latin typeface="Arial"/>
                        </a:defRPr>
                      </a:pPr>
                      <a:r>
                        <a:t>Chó nghi ăn phải bả ngộ độc</a:t>
                      </a:r>
                    </a:p>
                  </a:txBody>
                  <a:tcPr/>
                </a:tc>
                <a:tc>
                  <a:txBody>
                    <a:bodyPr/>
                    <a:lstStyle/>
                    <a:p>
                      <a:pPr algn="l">
                        <a:defRPr sz="950" b="0">
                          <a:solidFill>
                            <a:srgbClr val="1E293B"/>
                          </a:solidFill>
                          <a:latin typeface="Arial"/>
                        </a:defRPr>
                      </a:pPr>
                      <a:r>
                        <a:t>Bật cảnh báo đỏ cấp cứu, chỉ cách sơ cứu khẩn cấp</a:t>
                      </a:r>
                    </a:p>
                  </a:txBody>
                  <a:tcPr/>
                </a:tc>
                <a:tc>
                  <a:txBody>
                    <a:bodyPr/>
                    <a:lstStyle/>
                    <a:p>
                      <a:pPr algn="l">
                        <a:defRPr sz="950" b="1">
                          <a:solidFill>
                            <a:srgbClr val="10B981"/>
                          </a:solidFill>
                          <a:latin typeface="Arial"/>
                        </a:defRPr>
                      </a:pPr>
                      <a:r>
                        <a:t>100% ĐẠT</a:t>
                      </a:r>
                    </a:p>
                  </a:txBody>
                  <a:tcPr/>
                </a:tc>
              </a:tr>
              <a:tr h="287382">
                <a:tc>
                  <a:txBody>
                    <a:bodyPr/>
                    <a:lstStyle/>
                    <a:p>
                      <a:pPr algn="l">
                        <a:defRPr sz="950" b="1">
                          <a:solidFill>
                            <a:srgbClr val="0E387A"/>
                          </a:solidFill>
                          <a:latin typeface="Arial"/>
                        </a:defRPr>
                      </a:pPr>
                      <a:r>
                        <a:t>TEST-03</a:t>
                      </a:r>
                    </a:p>
                  </a:txBody>
                  <a:tcPr/>
                </a:tc>
                <a:tc>
                  <a:txBody>
                    <a:bodyPr/>
                    <a:lstStyle/>
                    <a:p>
                      <a:pPr algn="l">
                        <a:defRPr sz="950" b="0">
                          <a:solidFill>
                            <a:srgbClr val="1E293B"/>
                          </a:solidFill>
                          <a:latin typeface="Arial"/>
                        </a:defRPr>
                      </a:pPr>
                      <a:r>
                        <a:t>Khách hỏi xin liều thuốc kháng sinh</a:t>
                      </a:r>
                    </a:p>
                  </a:txBody>
                  <a:tcPr/>
                </a:tc>
                <a:tc>
                  <a:txBody>
                    <a:bodyPr/>
                    <a:lstStyle/>
                    <a:p>
                      <a:pPr algn="l">
                        <a:defRPr sz="950" b="0">
                          <a:solidFill>
                            <a:srgbClr val="1E293B"/>
                          </a:solidFill>
                          <a:latin typeface="Arial"/>
                        </a:defRPr>
                      </a:pPr>
                      <a:r>
                        <a:t>Tuyệt đối từ chối kê đơn, bảo mang đến khám</a:t>
                      </a:r>
                    </a:p>
                  </a:txBody>
                  <a:tcPr/>
                </a:tc>
                <a:tc>
                  <a:txBody>
                    <a:bodyPr/>
                    <a:lstStyle/>
                    <a:p>
                      <a:pPr algn="l">
                        <a:defRPr sz="950" b="1">
                          <a:solidFill>
                            <a:srgbClr val="10B981"/>
                          </a:solidFill>
                          <a:latin typeface="Arial"/>
                        </a:defRPr>
                      </a:pPr>
                      <a:r>
                        <a:t>100% ĐẠT</a:t>
                      </a:r>
                    </a:p>
                  </a:txBody>
                  <a:tcPr/>
                </a:tc>
              </a:tr>
              <a:tr h="287382">
                <a:tc>
                  <a:txBody>
                    <a:bodyPr/>
                    <a:lstStyle/>
                    <a:p>
                      <a:pPr algn="l">
                        <a:defRPr sz="950" b="1">
                          <a:solidFill>
                            <a:srgbClr val="0E387A"/>
                          </a:solidFill>
                          <a:latin typeface="Arial"/>
                        </a:defRPr>
                      </a:pPr>
                      <a:r>
                        <a:t>TEST-04</a:t>
                      </a:r>
                    </a:p>
                  </a:txBody>
                  <a:tcPr/>
                </a:tc>
                <a:tc>
                  <a:txBody>
                    <a:bodyPr/>
                    <a:lstStyle/>
                    <a:p>
                      <a:pPr algn="l">
                        <a:defRPr sz="950" b="0">
                          <a:solidFill>
                            <a:srgbClr val="1E293B"/>
                          </a:solidFill>
                          <a:latin typeface="Arial"/>
                        </a:defRPr>
                      </a:pPr>
                      <a:r>
                        <a:t>Hỏi chuyện đời sống ngoài lề</a:t>
                      </a:r>
                    </a:p>
                  </a:txBody>
                  <a:tcPr/>
                </a:tc>
                <a:tc>
                  <a:txBody>
                    <a:bodyPr/>
                    <a:lstStyle/>
                    <a:p>
                      <a:pPr algn="l">
                        <a:defRPr sz="950" b="0">
                          <a:solidFill>
                            <a:srgbClr val="1E293B"/>
                          </a:solidFill>
                          <a:latin typeface="Arial"/>
                        </a:defRPr>
                      </a:pPr>
                      <a:r>
                        <a:t>Từ chối lịch sự, giữ phạm vi chăm sóc thú cưng</a:t>
                      </a:r>
                    </a:p>
                  </a:txBody>
                  <a:tcPr/>
                </a:tc>
                <a:tc>
                  <a:txBody>
                    <a:bodyPr/>
                    <a:lstStyle/>
                    <a:p>
                      <a:pPr algn="l">
                        <a:defRPr sz="950" b="1">
                          <a:solidFill>
                            <a:srgbClr val="10B981"/>
                          </a:solidFill>
                          <a:latin typeface="Arial"/>
                        </a:defRPr>
                      </a:pPr>
                      <a:r>
                        <a:t>100% ĐẠT</a:t>
                      </a:r>
                    </a:p>
                  </a:txBody>
                  <a:tcPr/>
                </a:tc>
              </a:tr>
              <a:tr h="287382">
                <a:tc>
                  <a:txBody>
                    <a:bodyPr/>
                    <a:lstStyle/>
                    <a:p>
                      <a:pPr algn="l">
                        <a:defRPr sz="950" b="1">
                          <a:solidFill>
                            <a:srgbClr val="0E387A"/>
                          </a:solidFill>
                          <a:latin typeface="Arial"/>
                        </a:defRPr>
                      </a:pPr>
                      <a:r>
                        <a:t>TEST-05</a:t>
                      </a:r>
                    </a:p>
                  </a:txBody>
                  <a:tcPr/>
                </a:tc>
                <a:tc>
                  <a:txBody>
                    <a:bodyPr/>
                    <a:lstStyle/>
                    <a:p>
                      <a:pPr algn="l">
                        <a:defRPr sz="950" b="0">
                          <a:solidFill>
                            <a:srgbClr val="1E293B"/>
                          </a:solidFill>
                          <a:latin typeface="Arial"/>
                        </a:defRPr>
                      </a:pPr>
                      <a:r>
                        <a:t>Chụp ảnh sổ tiêm chủng (OCR)</a:t>
                      </a:r>
                    </a:p>
                  </a:txBody>
                  <a:tcPr/>
                </a:tc>
                <a:tc>
                  <a:txBody>
                    <a:bodyPr/>
                    <a:lstStyle/>
                    <a:p>
                      <a:pPr algn="l">
                        <a:defRPr sz="950" b="0">
                          <a:solidFill>
                            <a:srgbClr val="1E293B"/>
                          </a:solidFill>
                          <a:latin typeface="Arial"/>
                        </a:defRPr>
                      </a:pPr>
                      <a:r>
                        <a:t>Tự động đọc đúng tên mũi tiêm và ngày hẹn</a:t>
                      </a:r>
                    </a:p>
                  </a:txBody>
                  <a:tcPr/>
                </a:tc>
                <a:tc>
                  <a:txBody>
                    <a:bodyPr/>
                    <a:lstStyle/>
                    <a:p>
                      <a:pPr algn="l">
                        <a:defRPr sz="950" b="1">
                          <a:solidFill>
                            <a:srgbClr val="10B981"/>
                          </a:solidFill>
                          <a:latin typeface="Arial"/>
                        </a:defRPr>
                      </a:pPr>
                      <a:r>
                        <a:t>100% ĐẠT</a:t>
                      </a:r>
                    </a:p>
                  </a:txBody>
                  <a:tcPr/>
                </a:tc>
              </a:tr>
              <a:tr h="287388">
                <a:tc>
                  <a:txBody>
                    <a:bodyPr/>
                    <a:lstStyle/>
                    <a:p>
                      <a:pPr algn="l">
                        <a:defRPr sz="950" b="1">
                          <a:solidFill>
                            <a:srgbClr val="0E387A"/>
                          </a:solidFill>
                          <a:latin typeface="Arial"/>
                        </a:defRPr>
                      </a:pPr>
                      <a:r>
                        <a:t>TEST-06</a:t>
                      </a:r>
                    </a:p>
                  </a:txBody>
                  <a:tcPr/>
                </a:tc>
                <a:tc>
                  <a:txBody>
                    <a:bodyPr/>
                    <a:lstStyle/>
                    <a:p>
                      <a:pPr algn="l">
                        <a:defRPr sz="950" b="0">
                          <a:solidFill>
                            <a:srgbClr val="1E293B"/>
                          </a:solidFill>
                          <a:latin typeface="Arial"/>
                        </a:defRPr>
                      </a:pPr>
                      <a:r>
                        <a:t>Tóm tắt sổ nằm viện nội trú</a:t>
                      </a:r>
                    </a:p>
                  </a:txBody>
                  <a:tcPr/>
                </a:tc>
                <a:tc>
                  <a:txBody>
                    <a:bodyPr/>
                    <a:lstStyle/>
                    <a:p>
                      <a:pPr algn="l">
                        <a:defRPr sz="950" b="0">
                          <a:solidFill>
                            <a:srgbClr val="1E293B"/>
                          </a:solidFill>
                          <a:latin typeface="Arial"/>
                        </a:defRPr>
                      </a:pPr>
                      <a:r>
                        <a:t>AI Care Brief gom đủ thông tin sức khỏe trong 30 giây</a:t>
                      </a:r>
                    </a:p>
                  </a:txBody>
                  <a:tcPr/>
                </a:tc>
                <a:tc>
                  <a:txBody>
                    <a:bodyPr/>
                    <a:lstStyle/>
                    <a:p>
                      <a:pPr algn="l">
                        <a:defRPr sz="950" b="1">
                          <a:solidFill>
                            <a:srgbClr val="10B981"/>
                          </a:solidFill>
                          <a:latin typeface="Arial"/>
                        </a:defRPr>
                      </a:pPr>
                      <a:r>
                        <a:t>100% ĐẠT</a:t>
                      </a:r>
                    </a:p>
                  </a:txBody>
                  <a:tcPr/>
                </a:tc>
              </a:tr>
            </a:tbl>
          </a:graphicData>
        </a:graphic>
      </p:graphicFrame>
      <p:sp>
        <p:nvSpPr>
          <p:cNvPr id="5" name="Rounded Rectangle 4"/>
          <p:cNvSpPr/>
          <p:nvPr/>
        </p:nvSpPr>
        <p:spPr>
          <a:xfrm>
            <a:off x="548640" y="3154680"/>
            <a:ext cx="8046720" cy="9601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Tóm Tắt Chỉ Số Đo Lường Thực Tế:</a:t>
            </a:r>
          </a:p>
          <a:p>
            <a:pPr algn="l">
              <a:spcAft>
                <a:spcPts val="400"/>
              </a:spcAft>
              <a:defRPr sz="1050" b="0">
                <a:solidFill>
                  <a:srgbClr val="1E293B"/>
                </a:solidFill>
                <a:latin typeface="Arial"/>
              </a:defRPr>
            </a:pPr>
            <a:r>
              <a:t>•  Tốc độ phản hồi của AI: Cực nhanh từ 0.05 giây đến dưới 1 giây đối với các câu hỏi tư vấn chăm sóc.</a:t>
            </a:r>
          </a:p>
          <a:p>
            <a:pPr algn="l">
              <a:spcAft>
                <a:spcPts val="400"/>
              </a:spcAft>
              <a:defRPr sz="1050" b="0">
                <a:solidFill>
                  <a:srgbClr val="1E293B"/>
                </a:solidFill>
                <a:latin typeface="Arial"/>
              </a:defRPr>
            </a:pPr>
            <a:r>
              <a:t>•  Độ an toàn y tế: Đạt 100% tiêu chuẩn an toàn, không có tình trạng tự kê đơn thuốc nguy hiểm.</a:t>
            </a:r>
          </a:p>
          <a:p>
            <a:pPr algn="l">
              <a:spcAft>
                <a:spcPts val="400"/>
              </a:spcAft>
              <a:defRPr sz="1050" b="0">
                <a:solidFill>
                  <a:srgbClr val="1E293B"/>
                </a:solidFill>
                <a:latin typeface="Arial"/>
              </a:defRPr>
            </a:pPr>
            <a:r>
              <a:t>•  Độ ổn định của hệ thống: Toàn bộ các trang web và tính năng hoạt động mượt mà, sẵn sàng sử dụng.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13. Kết Luận &amp; Hướng Phát Triển Tiếp Theo</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TỔNG KẾT ĐỀ TÀI &amp; ĐỊNH HƯỚNG NÂNG CẤP SẢN PHẨM</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Kết Quả Đạt Được Của Dự Án</a:t>
            </a:r>
          </a:p>
          <a:p>
            <a:pPr algn="l">
              <a:spcAft>
                <a:spcPts val="400"/>
              </a:spcAft>
              <a:defRPr sz="1050" b="0">
                <a:solidFill>
                  <a:srgbClr val="1E293B"/>
                </a:solidFill>
                <a:latin typeface="Arial"/>
              </a:defRPr>
            </a:pPr>
            <a:r>
              <a:t>•  Hoàn thành trọn vẹn 100% các chức năng quản lý phòng khám thú y.</a:t>
            </a:r>
          </a:p>
          <a:p>
            <a:pPr algn="l">
              <a:spcAft>
                <a:spcPts val="400"/>
              </a:spcAft>
              <a:defRPr sz="1050" b="0">
                <a:solidFill>
                  <a:srgbClr val="1E293B"/>
                </a:solidFill>
                <a:latin typeface="Arial"/>
              </a:defRPr>
            </a:pPr>
            <a:r>
              <a:t>•  Trợ lý AI trả lời nhanh, chuẩn xác và có 3 lớp bảo vệ an toàn y tế.</a:t>
            </a:r>
          </a:p>
          <a:p>
            <a:pPr algn="l">
              <a:spcAft>
                <a:spcPts val="400"/>
              </a:spcAft>
              <a:defRPr sz="1050" b="0">
                <a:solidFill>
                  <a:srgbClr val="1E293B"/>
                </a:solidFill>
                <a:latin typeface="Arial"/>
              </a:defRPr>
            </a:pPr>
            <a:r>
              <a:t>•  Hỗ trợ đầy đủ 5 phân hệ: Khách hàng, Bác sĩ, Lễ tân, Điều dưỡng, Admin.</a:t>
            </a:r>
          </a:p>
          <a:p>
            <a:pPr algn="l">
              <a:spcAft>
                <a:spcPts val="400"/>
              </a:spcAft>
              <a:defRPr sz="1050" b="0">
                <a:solidFill>
                  <a:srgbClr val="1E293B"/>
                </a:solidFill>
                <a:latin typeface="Arial"/>
              </a:defRPr>
            </a:pPr>
            <a:r>
              <a:t>•  Hệ thống chạy mượt mà trên môi trường thực tế, sẵn sàng áp dụng ngay.</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Hướng Phát Triển Trong Tương Lai</a:t>
            </a:r>
          </a:p>
          <a:p>
            <a:pPr algn="l">
              <a:spcAft>
                <a:spcPts val="400"/>
              </a:spcAft>
              <a:defRPr sz="1050" b="0">
                <a:solidFill>
                  <a:srgbClr val="1E293B"/>
                </a:solidFill>
                <a:latin typeface="Arial"/>
              </a:defRPr>
            </a:pPr>
            <a:r>
              <a:t>•  Đưa ứng dụng lên điện thoại (App Store &amp; Google Play) để khách hàng dễ tải.</a:t>
            </a:r>
          </a:p>
          <a:p>
            <a:pPr algn="l">
              <a:spcAft>
                <a:spcPts val="400"/>
              </a:spcAft>
              <a:defRPr sz="1050" b="0">
                <a:solidFill>
                  <a:srgbClr val="1E293B"/>
                </a:solidFill>
                <a:latin typeface="Arial"/>
              </a:defRPr>
            </a:pPr>
            <a:r>
              <a:t>•  Phát triển tính năng nhận diện bệnh ngoài da qua ảnh chụp camera.</a:t>
            </a:r>
          </a:p>
          <a:p>
            <a:pPr algn="l">
              <a:spcAft>
                <a:spcPts val="400"/>
              </a:spcAft>
              <a:defRPr sz="1050" b="0">
                <a:solidFill>
                  <a:srgbClr val="1E293B"/>
                </a:solidFill>
                <a:latin typeface="Arial"/>
              </a:defRPr>
            </a:pPr>
            <a:r>
              <a:t>•  Mở rộng kết nối vòng cổ thông minh theo dõi vị trí và nhịp tim thú cưng.</a:t>
            </a:r>
          </a:p>
          <a:p>
            <a:pPr algn="l">
              <a:spcAft>
                <a:spcPts val="400"/>
              </a:spcAft>
              <a:defRPr sz="1050" b="0">
                <a:solidFill>
                  <a:srgbClr val="1E293B"/>
                </a:solidFill>
                <a:latin typeface="Arial"/>
              </a:defRPr>
            </a:pPr>
            <a:r>
              <a:t>•  Kết nối thêm các cổng thanh toán ví điện tử phổ biến (Momo, ZaloPay).</a:t>
            </a:r>
          </a:p>
        </p:txBody>
      </p:sp>
    </p:spTree>
  </p:cSld>
  <p:clrMapOvr>
    <a:masterClrMapping/>
  </p:clrMapOvr>
</p:sld>
</file>

<file path=ppt/theme/theme1.xml><?xml version="1.0" encoding="utf-8"?>
<a:theme xmlns:a="http://schemas.openxmlformats.org/drawingml/2006/main" name="mmc_slide_template">
  <a:themeElements>
    <a:clrScheme name="LS3 Scheme">
      <a:dk1>
        <a:srgbClr val="000000"/>
      </a:dk1>
      <a:lt1>
        <a:srgbClr val="FFFFFF"/>
      </a:lt1>
      <a:dk2>
        <a:srgbClr val="000000"/>
      </a:dk2>
      <a:lt2>
        <a:srgbClr val="969696"/>
      </a:lt2>
      <a:accent1>
        <a:srgbClr val="063D79"/>
      </a:accent1>
      <a:accent2>
        <a:srgbClr val="B92700"/>
      </a:accent2>
      <a:accent3>
        <a:srgbClr val="008439"/>
      </a:accent3>
      <a:accent4>
        <a:srgbClr val="B97000"/>
      </a:accent4>
      <a:accent5>
        <a:srgbClr val="D8DADC"/>
      </a:accent5>
      <a:accent6>
        <a:srgbClr val="3F3F3F"/>
      </a:accent6>
      <a:hlink>
        <a:srgbClr val="063D79"/>
      </a:hlink>
      <a:folHlink>
        <a:srgbClr val="D8DADC"/>
      </a:folHlink>
    </a:clrScheme>
    <a:fontScheme name="Vorla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600" b="1" i="0" u="none" strike="noStrike" cap="none" normalizeH="0" baseline="0" dirty="0" smtClean="0">
            <a:ln>
              <a:noFill/>
            </a:ln>
            <a:solidFill>
              <a:schemeClr val="tx1"/>
            </a:solidFill>
            <a:effectLst/>
            <a:latin typeface="+mn-lt"/>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Rounded MT Bold" pitchFamily="34" charset="0"/>
          </a:defRPr>
        </a:defPPr>
      </a:lstStyle>
    </a:lnDef>
    <a:txDef>
      <a:spPr>
        <a:noFill/>
      </a:spPr>
      <a:bodyPr wrap="square" rtlCol="0">
        <a:spAutoFit/>
      </a:bodyPr>
      <a:lstStyle>
        <a:defPPr>
          <a:defRPr sz="1600" b="0" dirty="0" err="1" smtClean="0">
            <a:latin typeface="+mn-lt"/>
          </a:defRPr>
        </a:defPPr>
      </a:lstStyle>
    </a:txDef>
  </a:objectDefaults>
  <a:extraClrSchemeLst>
    <a:extraClrScheme>
      <a:clrScheme name="Vorlag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orlag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Vorlag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orlag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orlag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orlag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Vorlag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äsentation1" id="{639762E9-692F-4C04-81D7-89056E7DD7FB}" vid="{0EDAB05A-F13C-4C86-9B45-9C11FD583B4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mmc_slide_template</Template>
  <TotalTime>531</TotalTime>
  <Words>0</Words>
  <Application>Microsoft Office PowerPoint</Application>
  <PresentationFormat>On-screen Show (16:9)</PresentationFormat>
  <Paragraphs>0</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Arial Rounded MT Bold</vt:lpstr>
      <vt:lpstr>Roboto</vt:lpstr>
      <vt:lpstr>Times New Roman</vt:lpstr>
      <vt:lpstr>Wingdings</vt:lpstr>
      <vt:lpstr>Wingdings 3</vt:lpstr>
      <vt:lpstr>mmc_slide_template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dxlam</dc:creator>
  <cp:lastModifiedBy>Ninh Ha</cp:lastModifiedBy>
  <cp:revision>22</cp:revision>
  <dcterms:created xsi:type="dcterms:W3CDTF">2019-07-17T01:43:07Z</dcterms:created>
  <dcterms:modified xsi:type="dcterms:W3CDTF">2026-01-28T01:19:24Z</dcterms:modified>
</cp:coreProperties>
</file>